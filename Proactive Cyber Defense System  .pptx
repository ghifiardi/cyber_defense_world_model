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777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787973"/>
            <a:ext cx="100013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0075" y="3757613"/>
            <a:ext cx="684483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dosat Bold Bold" pitchFamily="2" charset="77"/>
              </a:rPr>
              <a:t>Version 2.0</a:t>
            </a:r>
            <a:endParaRPr lang="en-US" sz="942" dirty="0">
              <a:latin typeface="Indosat Bold Bold" pitchFamily="2" charset="77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070152"/>
            <a:ext cx="100013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0075" y="4039791"/>
            <a:ext cx="974626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dosat Bold Bold" pitchFamily="2" charset="77"/>
              </a:rPr>
              <a:t>December 2024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8" name="Shape 3"/>
          <p:cNvSpPr/>
          <p:nvPr/>
        </p:nvSpPr>
        <p:spPr>
          <a:xfrm>
            <a:off x="428625" y="4464844"/>
            <a:ext cx="1358931" cy="25003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8625" y="4464844"/>
            <a:ext cx="1358931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  <a:latin typeface="Indosat Bold Bold" pitchFamily="2" charset="77"/>
              </a:rPr>
              <a:t>Production Ready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771900" y="581155"/>
            <a:ext cx="48006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kern="0" spc="-1" dirty="0">
                <a:solidFill>
                  <a:srgbClr val="1A1A1A"/>
                </a:solidFill>
                <a:latin typeface="Indosat Bold Bold" pitchFamily="2" charset="77"/>
              </a:rPr>
              <a:t>Proactive Cyber Defense System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771900" y="1729848"/>
            <a:ext cx="3034485" cy="266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33333"/>
                </a:solidFill>
                <a:latin typeface="Indosat Bold Bold" pitchFamily="2" charset="77"/>
              </a:rPr>
              <a:t>Architecture &amp; Deployment</a:t>
            </a:r>
            <a:endParaRPr lang="en-US" sz="1704" dirty="0">
              <a:latin typeface="Indosat Bold Bold" pitchFamily="2" charset="77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71900" y="2328137"/>
            <a:ext cx="355065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AI-Powered Attack Prediction &amp; Prevention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771900" y="2847845"/>
            <a:ext cx="4800600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3338" y="2919282"/>
            <a:ext cx="465772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287905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From Reactive to Proactive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122650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Transforming Cyber Defense Strategy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485900"/>
            <a:ext cx="37861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dosat Bold Bold" pitchFamily="2" charset="77"/>
              </a:rPr>
              <a:t>The Proactive Cyber Defense System represents a fundamental shift in cybersecurity strategy, moving from reactive incident response to </a:t>
            </a: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predictive threat prevention</a:t>
            </a:r>
            <a:r>
              <a:rPr lang="en-US" sz="1050" dirty="0">
                <a:solidFill>
                  <a:srgbClr val="333333"/>
                </a:solidFill>
                <a:latin typeface="Indosat Bold Bold" pitchFamily="2" charset="77"/>
              </a:rPr>
              <a:t>. By combining advanced machine learning, behavioral analytics, and threat intelligence, the system forecasts attacks </a:t>
            </a: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24+ hours in advance</a:t>
            </a:r>
            <a:r>
              <a:rPr lang="en-US" sz="1050" dirty="0">
                <a:solidFill>
                  <a:srgbClr val="333333"/>
                </a:solidFill>
                <a:latin typeface="Indosat Bold Bold" pitchFamily="2" charset="77"/>
              </a:rPr>
              <a:t>.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3000375"/>
            <a:ext cx="113814" cy="14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0094" y="3000375"/>
            <a:ext cx="3322318" cy="299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Indosat Bold Bold" pitchFamily="2" charset="77"/>
              </a:rPr>
              <a:t>Reduces Mean Time to Detection (MTTD) from hours to negative time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421856"/>
            <a:ext cx="113814" cy="143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0094" y="3421856"/>
            <a:ext cx="3125856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  <a:latin typeface="Indosat Bold Bold" pitchFamily="2" charset="77"/>
              </a:rPr>
              <a:t>Enables preventive measures before attacks occur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3739753"/>
            <a:ext cx="1166803" cy="94118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72773" y="3825478"/>
            <a:ext cx="564257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52CC"/>
                </a:solidFill>
                <a:latin typeface="Indosat Bold Bold" pitchFamily="2" charset="77"/>
              </a:rPr>
              <a:t>85%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32070" y="4286250"/>
            <a:ext cx="44563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Prediction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54526" y="4441627"/>
            <a:ext cx="400751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Precision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881178" y="3739753"/>
            <a:ext cx="1166803" cy="94118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17717" y="3825478"/>
            <a:ext cx="493725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52CC"/>
                </a:solidFill>
                <a:latin typeface="Indosat Bold Bold" pitchFamily="2" charset="77"/>
              </a:rPr>
              <a:t>42+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35336" y="4286250"/>
            <a:ext cx="458459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Prevented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260984" y="4441627"/>
            <a:ext cx="407163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Incidents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190856" y="3739753"/>
            <a:ext cx="1166803" cy="92690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77702" y="3825478"/>
            <a:ext cx="593111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52CC"/>
                </a:solidFill>
                <a:latin typeface="Indosat Bold Bold" pitchFamily="2" charset="77"/>
              </a:rPr>
              <a:t>4.2h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07170" y="4286250"/>
            <a:ext cx="73417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Mean Lead Time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86313" y="1485900"/>
            <a:ext cx="3786188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602" y="1557338"/>
            <a:ext cx="2589609" cy="142875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786313" y="3200400"/>
            <a:ext cx="3786188" cy="104655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929188" y="3343275"/>
            <a:ext cx="87363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Business Value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929188" y="3589734"/>
            <a:ext cx="350043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  <a:latin typeface="Indosat Bold Bold" pitchFamily="2" charset="77"/>
              </a:rPr>
              <a:t>Successfully prevented 42+ attacks in validation testing, demonstrating measurable risk reduction and operational efficiency.</a:t>
            </a:r>
            <a:endParaRPr lang="en-US" sz="83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52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281860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Six Core Capabilities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47050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Delivering Measurable Security Outcomes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2524116" cy="144482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24215" y="1557338"/>
            <a:ext cx="432811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01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0094" y="1664494"/>
            <a:ext cx="1691506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Predictive Analytics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0094" y="2052042"/>
            <a:ext cx="216692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Forecasts attacks 24+ hours in advance with 85% precision and 78% recall, enabling proactive defense positioning.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09928" y="1485900"/>
            <a:ext cx="2524116" cy="144482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162643" y="1557338"/>
            <a:ext cx="528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02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88522" y="1664494"/>
            <a:ext cx="1653220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Anomaly Detection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88522" y="2052042"/>
            <a:ext cx="21669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Real-time behavioral anomaly identification using autoencoder architecture with 1000-pattern memory bank.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048356" y="1485900"/>
            <a:ext cx="2524144" cy="144482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01099" y="1557338"/>
            <a:ext cx="528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03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26950" y="1664494"/>
            <a:ext cx="1832372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Attack Path Modeling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26950" y="2052042"/>
            <a:ext cx="2166956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Probabilistic attack graph generation mapping MITRE ATT&amp;CK techniques to network assets with risk scoring.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1500" y="3145036"/>
            <a:ext cx="2524116" cy="144482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424215" y="3216473"/>
            <a:ext cx="538609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04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50094" y="3323630"/>
            <a:ext cx="1647499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Threat Intelligence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0094" y="3711178"/>
            <a:ext cx="216692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Automated correlation with threat feeds and IOC matching for contextual threat validation.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309928" y="3145036"/>
            <a:ext cx="2524116" cy="144482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162643" y="3202186"/>
            <a:ext cx="528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05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488522" y="3309342"/>
            <a:ext cx="1807229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Automated Response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488522" y="3696891"/>
            <a:ext cx="216692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Preemptive defense action recommendations categorized as immediate, short-term, and long-term measures.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48356" y="3130748"/>
            <a:ext cx="2524144" cy="143053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01099" y="3202186"/>
            <a:ext cx="528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52CC">
                    <a:alpha val="10000"/>
                  </a:srgbClr>
                </a:solidFill>
                <a:latin typeface="Indosat Bold Bold" pitchFamily="2" charset="77"/>
              </a:rPr>
              <a:t>06</a:t>
            </a:r>
            <a:endParaRPr lang="en-US" sz="3294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26950" y="3309342"/>
            <a:ext cx="1582201" cy="252249"/>
          </a:xfrm>
          <a:prstGeom prst="rect">
            <a:avLst/>
          </a:prstGeom>
          <a:noFill/>
          <a:ln/>
        </p:spPr>
        <p:txBody>
          <a:bodyPr wrap="square" lIns="0" tIns="0" rIns="340233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Integration Ready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226950" y="3696891"/>
            <a:ext cx="2166956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Native connectors for SIEM, EDR, and cloud logging platforms enabling unified threat visibility.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71500" y="4775597"/>
            <a:ext cx="8001000" cy="44112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85813" y="4918472"/>
            <a:ext cx="1109278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Business Outcomes: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408197" y="4918472"/>
            <a:ext cx="1577355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Reduced MTTD </a:t>
            </a: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Negative Time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76282" y="4918472"/>
            <a:ext cx="1296830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Prevented Incidents </a:t>
            </a: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42+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576547" y="4918472"/>
            <a:ext cx="1675139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Cost Savings </a:t>
            </a: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Breach Prevention</a:t>
            </a:r>
            <a:endParaRPr lang="en-US" sz="83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Four-Layer Architecture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7786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From Data to Defense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485900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000125" y="1485900"/>
            <a:ext cx="4114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Data Collection Layer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00125" y="1716286"/>
            <a:ext cx="4114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Aggregates normalized telemetry from multiple sources (SIEM, EDR, Cloud Logs) into a unified 256-feature dataset with 100+ timesteps.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329197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00125" y="2329197"/>
            <a:ext cx="4114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Prediction Engine Layer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000125" y="2559583"/>
            <a:ext cx="4114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Core AI/ML capabilities including Temporal Attack Predictor, Behavioral Anomaly Detector, and Attack Graph Generator.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3172495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03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1000125" y="3172495"/>
            <a:ext cx="4114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Defense Orchestration Layer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000125" y="3402881"/>
            <a:ext cx="4114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Coordinates predictions with threat intelligence, generates confidence-based warnings, and produces actionable defense recommendations.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4015792"/>
            <a:ext cx="285750" cy="248245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04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1000125" y="4015792"/>
            <a:ext cx="4114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Integration Layer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000125" y="4246178"/>
            <a:ext cx="41148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Manages external system connectivity through API connectors, alerting channels, and automation action execution.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543550" y="1557338"/>
            <a:ext cx="3028950" cy="2857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06" y="1664494"/>
            <a:ext cx="2814638" cy="26431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43550" y="4521994"/>
            <a:ext cx="3028950" cy="27146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High-level system architecture illustrating the flow from data ingestion to defense orchestration.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21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143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Multi-Horizon Forecasting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85813" y="909042"/>
            <a:ext cx="7786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Temporal Fusion Transformer Architecture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1710203" y="1428750"/>
            <a:ext cx="2000250" cy="553641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10203" y="1428750"/>
            <a:ext cx="2000250" cy="55364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Input Telemetry
</a:t>
            </a:r>
            <a:r>
              <a:rPr lang="en-US" sz="621" dirty="0">
                <a:solidFill>
                  <a:srgbClr val="0052CC"/>
                </a:solidFill>
              </a:rPr>
              <a:t>(Batch, 100, 256)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1138703" y="2168128"/>
            <a:ext cx="1428750" cy="55364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38703" y="2168128"/>
            <a:ext cx="1428750" cy="55364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Temporal Attention
</a:t>
            </a:r>
            <a:r>
              <a:rPr lang="en-US" sz="621" dirty="0">
                <a:solidFill>
                  <a:srgbClr val="1A1A1A"/>
                </a:solidFill>
              </a:rPr>
              <a:t>8 Multi-Head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853203" y="2168128"/>
            <a:ext cx="1428750" cy="55364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53203" y="2168128"/>
            <a:ext cx="1428750" cy="55364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Temporal CNN
</a:t>
            </a:r>
            <a:r>
              <a:rPr lang="en-US" sz="621" dirty="0">
                <a:solidFill>
                  <a:srgbClr val="1A1A1A"/>
                </a:solidFill>
              </a:rPr>
              <a:t>Dilated Conv Layers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1710203" y="2907506"/>
            <a:ext cx="2000250" cy="55364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710203" y="2907506"/>
            <a:ext cx="2000250" cy="55364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Bidirectional GRU
</a:t>
            </a:r>
            <a:r>
              <a:rPr lang="en-US" sz="621" dirty="0">
                <a:solidFill>
                  <a:srgbClr val="CCCCCC"/>
                </a:solidFill>
              </a:rPr>
              <a:t>3 Layers, 512 Hidden Units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703184" y="3432572"/>
            <a:ext cx="14288" cy="17859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67265" y="3611166"/>
            <a:ext cx="1000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67265" y="3611166"/>
            <a:ext cx="100012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Forecast Head
</a:t>
            </a:r>
            <a:r>
              <a:rPr lang="en-US" sz="568" dirty="0">
                <a:solidFill>
                  <a:srgbClr val="0052CC"/>
                </a:solidFill>
              </a:rPr>
              <a:t>24-Step Horizon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210265" y="3611166"/>
            <a:ext cx="1000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210265" y="3611166"/>
            <a:ext cx="100012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Attack Classifier
</a:t>
            </a:r>
            <a:r>
              <a:rPr lang="en-US" sz="568" dirty="0">
                <a:solidFill>
                  <a:srgbClr val="0052CC"/>
                </a:solidFill>
              </a:rPr>
              <a:t>13 MITRE Tactics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353265" y="3611166"/>
            <a:ext cx="1000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53265" y="3611166"/>
            <a:ext cx="100012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Confidence Net
</a:t>
            </a:r>
            <a:r>
              <a:rPr lang="en-US" sz="568" dirty="0">
                <a:solidFill>
                  <a:srgbClr val="0052CC"/>
                </a:solidFill>
              </a:rPr>
              <a:t>0-1 Score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5277808" y="1357313"/>
            <a:ext cx="3294692" cy="3535431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00688" y="1571625"/>
            <a:ext cx="2857500" cy="1785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Input Specifications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500688" y="1821656"/>
            <a:ext cx="92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Sequence Length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7548349" y="1821656"/>
            <a:ext cx="8098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100 Timesteps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500688" y="2034183"/>
            <a:ext cx="6587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Feature Dim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7634325" y="2034183"/>
            <a:ext cx="723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256 Features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5500688" y="2461022"/>
            <a:ext cx="2857500" cy="1785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Model Parameters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500688" y="2711053"/>
            <a:ext cx="8692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Attention Heads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8292805" y="2711053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8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500688" y="2923580"/>
            <a:ext cx="8976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GRU Hidden Size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8162041" y="2923580"/>
            <a:ext cx="196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512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500688" y="3136106"/>
            <a:ext cx="6163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GRU Layers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7877994" y="3136106"/>
            <a:ext cx="4801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3 (Bi-dir)</a:t>
            </a:r>
            <a:endParaRPr lang="en-US" sz="784" dirty="0"/>
          </a:p>
        </p:txBody>
      </p:sp>
      <p:sp>
        <p:nvSpPr>
          <p:cNvPr id="35" name="Shape 32"/>
          <p:cNvSpPr/>
          <p:nvPr/>
        </p:nvSpPr>
        <p:spPr>
          <a:xfrm>
            <a:off x="5500688" y="3562945"/>
            <a:ext cx="2857500" cy="1101198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43563" y="3705820"/>
            <a:ext cx="47528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85%</a:t>
            </a:r>
            <a:endParaRPr lang="en-US" sz="1602" dirty="0"/>
          </a:p>
        </p:txBody>
      </p:sp>
      <p:sp>
        <p:nvSpPr>
          <p:cNvPr id="37" name="Text 34"/>
          <p:cNvSpPr/>
          <p:nvPr/>
        </p:nvSpPr>
        <p:spPr>
          <a:xfrm>
            <a:off x="5643563" y="4018359"/>
            <a:ext cx="4752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Precision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7731547" y="3705820"/>
            <a:ext cx="4837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4.2h</a:t>
            </a:r>
            <a:endParaRPr lang="en-US" sz="1602" dirty="0"/>
          </a:p>
        </p:txBody>
      </p:sp>
      <p:sp>
        <p:nvSpPr>
          <p:cNvPr id="39" name="Text 36"/>
          <p:cNvSpPr/>
          <p:nvPr/>
        </p:nvSpPr>
        <p:spPr>
          <a:xfrm>
            <a:off x="7731547" y="4018359"/>
            <a:ext cx="483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Lead Time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643563" y="4261247"/>
            <a:ext cx="257175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Captures long-range dependencies and multi-scale patterns for accurate early warning.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778668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Unsupervised Anomaly Detection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7786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Autoencoder with Contrastive Learning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257300"/>
            <a:ext cx="3574721" cy="3757613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" y="1314450"/>
            <a:ext cx="3452580" cy="46970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371600"/>
            <a:ext cx="3338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Input Features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85800" y="1562695"/>
            <a:ext cx="33382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Normalized Telemetry (256-dim)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2269201" y="174128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628650" y="1955602"/>
            <a:ext cx="3452580" cy="47863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2012752"/>
            <a:ext cx="3338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Encoder (MLP)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85800" y="2203847"/>
            <a:ext cx="33382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3 Layers: 256 → 128 → 64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269201" y="239137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16" name="Shape 13"/>
          <p:cNvSpPr/>
          <p:nvPr/>
        </p:nvSpPr>
        <p:spPr>
          <a:xfrm>
            <a:off x="628650" y="2605683"/>
            <a:ext cx="3452580" cy="46970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2662833"/>
            <a:ext cx="3338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Latent Representation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85800" y="2853928"/>
            <a:ext cx="33382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Compressed State (64-dim)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076872" y="2614613"/>
            <a:ext cx="1143000" cy="423267"/>
          </a:xfrm>
          <a:prstGeom prst="rect">
            <a:avLst/>
          </a:prstGeom>
          <a:solidFill>
            <a:srgbClr val="0052CC">
              <a:alpha val="5000"/>
            </a:srgbClr>
          </a:solidFill>
          <a:ln w="18288">
            <a:solidFill>
              <a:srgbClr val="0052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134022" y="2686050"/>
            <a:ext cx="1028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Memory Bank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134022" y="2850356"/>
            <a:ext cx="10287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1000 Normal Patterns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2269201" y="303252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23" name="Shape 20"/>
          <p:cNvSpPr/>
          <p:nvPr/>
        </p:nvSpPr>
        <p:spPr>
          <a:xfrm>
            <a:off x="628650" y="3246834"/>
            <a:ext cx="3452580" cy="47863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3303984"/>
            <a:ext cx="3338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Decoder (MLP)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85800" y="3495080"/>
            <a:ext cx="33382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3 Layers: 64 → 128 → 256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2269201" y="368260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27" name="Shape 24"/>
          <p:cNvSpPr/>
          <p:nvPr/>
        </p:nvSpPr>
        <p:spPr>
          <a:xfrm>
            <a:off x="628650" y="3896916"/>
            <a:ext cx="3452580" cy="469702"/>
          </a:xfrm>
          <a:prstGeom prst="rect">
            <a:avLst/>
          </a:prstGeom>
          <a:solidFill>
            <a:srgbClr val="FFFFFF"/>
          </a:solidFill>
          <a:ln w="18288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85800" y="3954066"/>
            <a:ext cx="3338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Anomaly Score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85800" y="4145161"/>
            <a:ext cx="33382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Reconstruction + Contrastive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361157" y="1257300"/>
            <a:ext cx="1681209" cy="251817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Detection Methodology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4352690" y="1553303"/>
            <a:ext cx="644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</a:rPr>
              <a:t>•</a:t>
            </a:r>
            <a:endParaRPr lang="en-US" sz="1269" dirty="0"/>
          </a:p>
        </p:txBody>
      </p:sp>
      <p:sp>
        <p:nvSpPr>
          <p:cNvPr id="32" name="Text 29"/>
          <p:cNvSpPr/>
          <p:nvPr/>
        </p:nvSpPr>
        <p:spPr>
          <a:xfrm>
            <a:off x="4495565" y="1589022"/>
            <a:ext cx="40769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Reconstruction Error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4495565" y="1806906"/>
            <a:ext cx="393101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Measures how accurately the model can reconstruct the input. High error indicates the pattern was not seen during training (anomaly).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352690" y="2192669"/>
            <a:ext cx="644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</a:rPr>
              <a:t>•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4495565" y="2228387"/>
            <a:ext cx="40769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Contrastive Learning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4495565" y="2446272"/>
            <a:ext cx="3776923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Compares the current latent representation against a memory bank of verified normal patterns to ensure consistency.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4352690" y="2832034"/>
            <a:ext cx="644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</a:rPr>
              <a:t>•</a:t>
            </a:r>
            <a:endParaRPr lang="en-US" sz="1269" dirty="0"/>
          </a:p>
        </p:txBody>
      </p:sp>
      <p:sp>
        <p:nvSpPr>
          <p:cNvPr id="38" name="Text 35"/>
          <p:cNvSpPr/>
          <p:nvPr/>
        </p:nvSpPr>
        <p:spPr>
          <a:xfrm>
            <a:off x="4495565" y="2867753"/>
            <a:ext cx="40769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Combined Scoring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4495565" y="3085637"/>
            <a:ext cx="405114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Aggregates metrics into a single 0-1 score. Warnings triggered if score &gt; 0.8 (configurable).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4352692" y="3698677"/>
            <a:ext cx="1690501" cy="251817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Technical Specifications</a:t>
            </a:r>
            <a:endParaRPr lang="en-US" sz="987" dirty="0"/>
          </a:p>
        </p:txBody>
      </p:sp>
      <p:sp>
        <p:nvSpPr>
          <p:cNvPr id="41" name="Shape 38"/>
          <p:cNvSpPr/>
          <p:nvPr/>
        </p:nvSpPr>
        <p:spPr>
          <a:xfrm>
            <a:off x="4352692" y="4021931"/>
            <a:ext cx="2074171" cy="460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352692" y="4021931"/>
            <a:ext cx="28575" cy="4607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409842" y="4079081"/>
            <a:ext cx="19598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</a:rPr>
              <a:t>Latent Dimension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4409842" y="4230886"/>
            <a:ext cx="5790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64 Units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6498301" y="4021931"/>
            <a:ext cx="2074199" cy="460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498301" y="4021931"/>
            <a:ext cx="28575" cy="4607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555451" y="4079081"/>
            <a:ext cx="19598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</a:rPr>
              <a:t>Memory Bank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6555451" y="4230886"/>
            <a:ext cx="9782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1000 Patterns</a:t>
            </a:r>
            <a:endParaRPr lang="en-US" sz="987" dirty="0"/>
          </a:p>
        </p:txBody>
      </p:sp>
      <p:sp>
        <p:nvSpPr>
          <p:cNvPr id="49" name="Shape 46"/>
          <p:cNvSpPr/>
          <p:nvPr/>
        </p:nvSpPr>
        <p:spPr>
          <a:xfrm>
            <a:off x="4352692" y="4554141"/>
            <a:ext cx="2074171" cy="460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352692" y="4554141"/>
            <a:ext cx="28575" cy="4607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409842" y="4611291"/>
            <a:ext cx="19598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</a:rPr>
              <a:t>Anomaly Threshold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4409842" y="4763095"/>
            <a:ext cx="8694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0.8 (Default)</a:t>
            </a:r>
            <a:endParaRPr lang="en-US" sz="987" dirty="0"/>
          </a:p>
        </p:txBody>
      </p:sp>
      <p:sp>
        <p:nvSpPr>
          <p:cNvPr id="53" name="Shape 50"/>
          <p:cNvSpPr/>
          <p:nvPr/>
        </p:nvSpPr>
        <p:spPr>
          <a:xfrm>
            <a:off x="6498301" y="4554141"/>
            <a:ext cx="2074199" cy="460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6498301" y="4554141"/>
            <a:ext cx="28575" cy="4607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555451" y="4611291"/>
            <a:ext cx="19598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666666"/>
                </a:solidFill>
              </a:rPr>
              <a:t>Update Frequency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6555451" y="4763095"/>
            <a:ext cx="4813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Hourly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055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813929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Attack Graph Generator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830903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Probabilistic Attack Path Modeling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1893094" cy="13861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4375" y="1628775"/>
            <a:ext cx="211596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>
                    <a:alpha val="80000"/>
                  </a:srgbClr>
                </a:solidFill>
                <a:latin typeface="Indosat Bold Bold" pitchFamily="2" charset="77"/>
              </a:rPr>
              <a:t>01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4375" y="2048470"/>
            <a:ext cx="974626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Node Generation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4375" y="2294930"/>
            <a:ext cx="159662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Maps network assets (servers, firewalls, databases) as graph nodes.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18159" y="2178983"/>
            <a:ext cx="134652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96753" y="1485900"/>
            <a:ext cx="1896666" cy="13861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43200" y="1628775"/>
            <a:ext cx="256480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>
                    <a:alpha val="80000"/>
                  </a:srgbClr>
                </a:solidFill>
                <a:latin typeface="Indosat Bold Bold" pitchFamily="2" charset="77"/>
              </a:rPr>
              <a:t>02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743200" y="2048470"/>
            <a:ext cx="963405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Edge Generation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43200" y="2294930"/>
            <a:ext cx="16002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Calculates attack probabilities, maps MITRE techniques, scores difficulty.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50556" y="2178983"/>
            <a:ext cx="134652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29150" y="1485900"/>
            <a:ext cx="1900238" cy="13861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79169" y="1628775"/>
            <a:ext cx="253274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>
                    <a:alpha val="80000"/>
                  </a:srgbClr>
                </a:solidFill>
                <a:latin typeface="Indosat Bold Bold" pitchFamily="2" charset="77"/>
              </a:rPr>
              <a:t>03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9169" y="2048470"/>
            <a:ext cx="872034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Path Discovery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79169" y="2294930"/>
            <a:ext cx="1603772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Identifies all possible attack sequences from entry points to critical assets.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90097" y="2178983"/>
            <a:ext cx="134652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668691" y="1485900"/>
            <a:ext cx="1903809" cy="13861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22281" y="1628775"/>
            <a:ext cx="262892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>
                    <a:alpha val="80000"/>
                  </a:srgbClr>
                </a:solidFill>
                <a:latin typeface="Indosat Bold Bold" pitchFamily="2" charset="77"/>
              </a:rPr>
              <a:t>04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22281" y="2048470"/>
            <a:ext cx="932948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Critical Analysis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22281" y="2294930"/>
            <a:ext cx="1607344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Ranks paths by probability and impact to identify top 5 highest-risk chains.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0" y="3143557"/>
            <a:ext cx="9144000" cy="214770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1500" y="3429307"/>
            <a:ext cx="2476481" cy="2522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MITRE ATT&amp;CK Integration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1500" y="3845430"/>
            <a:ext cx="247648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Maps 13 MITRE tactics (Reconnaissance through Impact) to specific attack techniques, enabling standardized threat modeling aligned with industry frameworks.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333731" y="3429307"/>
            <a:ext cx="2476509" cy="2522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Risk Scoring Model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333731" y="3845430"/>
            <a:ext cx="57708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52CC"/>
                </a:solidFill>
                <a:latin typeface="Indosat Bold Bold" pitchFamily="2" charset="77"/>
              </a:rPr>
              <a:t>•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476606" y="3857932"/>
            <a:ext cx="1171796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Vulnerability Severity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333731" y="4099731"/>
            <a:ext cx="57708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52CC"/>
                </a:solidFill>
                <a:latin typeface="Indosat Bold Bold" pitchFamily="2" charset="77"/>
              </a:rPr>
              <a:t>•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476606" y="4112233"/>
            <a:ext cx="859210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Asset Criticality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33731" y="4354032"/>
            <a:ext cx="57708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52CC"/>
                </a:solidFill>
                <a:latin typeface="Indosat Bold Bold" pitchFamily="2" charset="77"/>
              </a:rPr>
              <a:t>•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476606" y="4366533"/>
            <a:ext cx="1635063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Security Control Effectiveness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33731" y="4608333"/>
            <a:ext cx="57708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52CC"/>
                </a:solidFill>
                <a:latin typeface="Indosat Bold Bold" pitchFamily="2" charset="77"/>
              </a:rPr>
              <a:t>•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476606" y="4620834"/>
            <a:ext cx="977832" cy="161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Attack Probability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095991" y="3429307"/>
            <a:ext cx="2476481" cy="2522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System Output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095991" y="3845430"/>
            <a:ext cx="2476481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  <a:latin typeface="Indosat Bold Bold" pitchFamily="2" charset="77"/>
              </a:rPr>
              <a:t>Provides security teams with visual attack path representations, critical path rankings, and technique-specific defense recommendations for each identified attack chain.</a:t>
            </a:r>
            <a:endParaRPr lang="en-US" sz="83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534255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Intelligent Threat Correlation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367910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From Predictions to Actionable Warnings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414463"/>
            <a:ext cx="988284" cy="1738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52CC"/>
                </a:solidFill>
                <a:latin typeface="Indosat Bold Bold" pitchFamily="2" charset="77"/>
              </a:rPr>
              <a:t>Processing Pipeline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-452967" y="1669852"/>
            <a:ext cx="171450" cy="17145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-626928" y="1669852"/>
            <a:ext cx="519373" cy="153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584" b="1" dirty="0">
                <a:solidFill>
                  <a:srgbClr val="FF0000"/>
                </a:solidFill>
                <a:latin typeface="Indosat Bold Bold" pitchFamily="2" charset="77"/>
              </a:rPr>
              <a:t>counter(step)</a:t>
            </a:r>
            <a:endParaRPr lang="en-US" sz="584" dirty="0">
              <a:solidFill>
                <a:srgbClr val="FF0000"/>
              </a:solidFill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1531" y="1669852"/>
            <a:ext cx="75822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Preprocessing: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57992" y="1669852"/>
            <a:ext cx="1582164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Normalize &amp; shape telemetry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-452967" y="1882378"/>
            <a:ext cx="171450" cy="17145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-626928" y="1882378"/>
            <a:ext cx="519373" cy="153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584" b="1" dirty="0">
                <a:solidFill>
                  <a:srgbClr val="FF0000"/>
                </a:solidFill>
                <a:latin typeface="Indosat Bold Bold" pitchFamily="2" charset="77"/>
              </a:rPr>
              <a:t>counter(step)</a:t>
            </a:r>
            <a:endParaRPr lang="en-US" sz="584" dirty="0">
              <a:solidFill>
                <a:srgbClr val="FF0000"/>
              </a:solidFill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1531" y="1882378"/>
            <a:ext cx="54822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Prediction: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39326" y="1882378"/>
            <a:ext cx="1934825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Run TAP, Anomaly, &amp; Graph models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-452967" y="2094905"/>
            <a:ext cx="171450" cy="17145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-626928" y="2094905"/>
            <a:ext cx="519373" cy="153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584" b="1" dirty="0">
                <a:solidFill>
                  <a:srgbClr val="FF0000"/>
                </a:solidFill>
                <a:latin typeface="Indosat Bold Bold" pitchFamily="2" charset="77"/>
              </a:rPr>
              <a:t>counter(step)</a:t>
            </a:r>
            <a:endParaRPr lang="en-US" sz="584" dirty="0">
              <a:solidFill>
                <a:srgbClr val="FF0000"/>
              </a:solidFill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1531" y="2094905"/>
            <a:ext cx="60433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Correlation: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500941" y="2094905"/>
            <a:ext cx="1348126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Match threat intel &amp; IOCs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-452967" y="2307431"/>
            <a:ext cx="171450" cy="17145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-626928" y="2307431"/>
            <a:ext cx="519373" cy="153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584" b="1" dirty="0">
                <a:solidFill>
                  <a:srgbClr val="FF0000"/>
                </a:solidFill>
                <a:latin typeface="Indosat Bold Bold" pitchFamily="2" charset="77"/>
              </a:rPr>
              <a:t>counter(step)</a:t>
            </a:r>
            <a:endParaRPr lang="en-US" sz="584" dirty="0">
              <a:solidFill>
                <a:srgbClr val="FF0000"/>
              </a:solidFill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1531" y="2307431"/>
            <a:ext cx="70852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Warning Gen: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595819" y="2307431"/>
            <a:ext cx="1561325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Apply confidence thresholds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-452967" y="2519958"/>
            <a:ext cx="171450" cy="17145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-626928" y="2519958"/>
            <a:ext cx="519373" cy="153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584" b="1" dirty="0">
                <a:solidFill>
                  <a:srgbClr val="FF0000"/>
                </a:solidFill>
                <a:latin typeface="Indosat Bold Bold" pitchFamily="2" charset="77"/>
              </a:rPr>
              <a:t>counter(step)</a:t>
            </a:r>
            <a:endParaRPr lang="en-US" sz="584" dirty="0">
              <a:solidFill>
                <a:srgbClr val="FF0000"/>
              </a:solidFill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1531" y="2519958"/>
            <a:ext cx="95859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Recommendation: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65440" y="2519958"/>
            <a:ext cx="1407437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Generate defense actions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1500" y="2818209"/>
            <a:ext cx="896527" cy="1738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52CC"/>
                </a:solidFill>
                <a:latin typeface="Indosat Bold Bold" pitchFamily="2" charset="77"/>
              </a:rPr>
              <a:t>Confidence Logic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71500" y="3073598"/>
            <a:ext cx="3600450" cy="1035844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71500" y="3073598"/>
            <a:ext cx="1334458" cy="25360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71500" y="3320058"/>
            <a:ext cx="133445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71500" y="3073598"/>
            <a:ext cx="1334458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  <a:latin typeface="Indosat Bold Bold" pitchFamily="2" charset="77"/>
              </a:rPr>
              <a:t>Confidence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905958" y="3073598"/>
            <a:ext cx="1076669" cy="25360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905958" y="3320058"/>
            <a:ext cx="1076669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905958" y="3073598"/>
            <a:ext cx="1076669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  <a:latin typeface="Indosat Bold Bold" pitchFamily="2" charset="77"/>
              </a:rPr>
              <a:t>Severity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982627" y="3073598"/>
            <a:ext cx="1189323" cy="25360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2982627" y="3320058"/>
            <a:ext cx="1189323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982627" y="3073598"/>
            <a:ext cx="1189323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  <a:latin typeface="Indosat Bold Bold" pitchFamily="2" charset="77"/>
              </a:rPr>
              <a:t>Action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71500" y="3323630"/>
            <a:ext cx="1334458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&gt; 0.85 (High)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905958" y="3323630"/>
            <a:ext cx="1076669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  <a:latin typeface="Indosat Bold Bold" pitchFamily="2" charset="77"/>
              </a:rPr>
              <a:t>CRITICAL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982627" y="3323630"/>
            <a:ext cx="1189323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Immediate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1500" y="3577233"/>
            <a:ext cx="1334458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0.65 - 0.85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905958" y="3582870"/>
            <a:ext cx="1076669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7C00"/>
                </a:solidFill>
                <a:latin typeface="Indosat Bold Bold" pitchFamily="2" charset="77"/>
              </a:rPr>
              <a:t>HIGH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982627" y="3577233"/>
            <a:ext cx="1189323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Short-term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71500" y="3834408"/>
            <a:ext cx="1334458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&lt; 0.65 (Low)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905958" y="3840045"/>
            <a:ext cx="1076669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BC02D"/>
                </a:solidFill>
                <a:latin typeface="Indosat Bold Bold" pitchFamily="2" charset="77"/>
              </a:rPr>
              <a:t>MEDIUM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982627" y="3834408"/>
            <a:ext cx="1189323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Monitor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71500" y="4180880"/>
            <a:ext cx="981872" cy="1738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52CC"/>
                </a:solidFill>
                <a:latin typeface="Indosat Bold Bold" pitchFamily="2" charset="77"/>
              </a:rPr>
              <a:t>Correlation Scoring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71500" y="4436269"/>
            <a:ext cx="3600450" cy="27860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71500" y="4436269"/>
            <a:ext cx="28575" cy="27860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71500" y="4436269"/>
            <a:ext cx="3600450" cy="2817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Indosat Bold Bold" pitchFamily="2" charset="77"/>
              </a:rPr>
              <a:t>Score = Base_Prob × (1 + Intel_Matches × 0.2)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457700" y="1414463"/>
            <a:ext cx="411480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829" y="1485900"/>
            <a:ext cx="2538543" cy="142872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4457700" y="3071813"/>
            <a:ext cx="1290033" cy="17389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52CC"/>
                </a:solidFill>
                <a:latin typeface="Indosat Bold Bold" pitchFamily="2" charset="77"/>
              </a:rPr>
              <a:t>Time Window Estimation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4457700" y="3327202"/>
            <a:ext cx="2021681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4529138" y="3425428"/>
            <a:ext cx="368691" cy="95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Indosat Bold Bold" pitchFamily="2" charset="77"/>
              </a:rPr>
              <a:t>Prob &gt; 0.8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5804660" y="3405783"/>
            <a:ext cx="53700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0 - 6 Hours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6550819" y="3327202"/>
            <a:ext cx="2021681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6622256" y="3418284"/>
            <a:ext cx="368691" cy="95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Indosat Bold Bold" pitchFamily="2" charset="77"/>
              </a:rPr>
              <a:t>Prob &gt; 0.6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7831699" y="3398639"/>
            <a:ext cx="59311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6 - 24 Hours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4457700" y="3696891"/>
            <a:ext cx="2021681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4529138" y="3795117"/>
            <a:ext cx="371897" cy="95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Indosat Bold Bold" pitchFamily="2" charset="77"/>
              </a:rPr>
              <a:t>Prob &gt; 0.4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63" name="Text 59"/>
          <p:cNvSpPr/>
          <p:nvPr/>
        </p:nvSpPr>
        <p:spPr>
          <a:xfrm>
            <a:off x="5870711" y="3775472"/>
            <a:ext cx="47929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1 - 3 Days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64" name="Shape 60"/>
          <p:cNvSpPr/>
          <p:nvPr/>
        </p:nvSpPr>
        <p:spPr>
          <a:xfrm>
            <a:off x="6550819" y="3696891"/>
            <a:ext cx="2021681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6622256" y="3787973"/>
            <a:ext cx="371897" cy="95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Indosat Bold Bold" pitchFamily="2" charset="77"/>
              </a:rPr>
              <a:t>Prob &lt; 0.4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66" name="Text 62"/>
          <p:cNvSpPr/>
          <p:nvPr/>
        </p:nvSpPr>
        <p:spPr>
          <a:xfrm>
            <a:off x="7963830" y="3768328"/>
            <a:ext cx="493725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3 - 7 Days</a:t>
            </a:r>
            <a:endParaRPr lang="en-US" sz="78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91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829207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End-to-End Prediction Pipeline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870979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Real-Time Threat Intelligence Flow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485900"/>
            <a:ext cx="2476481" cy="22974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Ingestion &amp; Prep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925241"/>
            <a:ext cx="2476481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4375" y="2068116"/>
            <a:ext cx="58509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Collection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90667" y="2087761"/>
            <a:ext cx="96180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01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2300288"/>
            <a:ext cx="21907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SIEM &amp; EDR telemetry streaming. Configurable intervals (Default: 5 min).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76077" y="2746387"/>
            <a:ext cx="67326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dosat Bold Bold" pitchFamily="2" charset="77"/>
              </a:rPr>
              <a:t>↓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2937477"/>
            <a:ext cx="2476481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4375" y="3080352"/>
            <a:ext cx="815929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Preprocessing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90667" y="3099997"/>
            <a:ext cx="117020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02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4375" y="3312523"/>
            <a:ext cx="21907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Z-score normalization, Feature extraction (256 dim), Temporal shaping (100 steps).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33731" y="1485900"/>
            <a:ext cx="2476509" cy="22974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Analysis &amp; Correlation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333731" y="1925241"/>
            <a:ext cx="2476509" cy="1140823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76606" y="2068116"/>
            <a:ext cx="58028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Prediction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52926" y="2087761"/>
            <a:ext cx="115416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03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76606" y="2302073"/>
            <a:ext cx="1053173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Three parallel models: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76606" y="2476007"/>
            <a:ext cx="1240083" cy="11778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Temporal Attack Predictor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76606" y="2620305"/>
            <a:ext cx="1385957" cy="11778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Behavioral Anomaly Detector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476606" y="2764603"/>
            <a:ext cx="1142300" cy="11778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Attack Graph Generator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38309" y="3075000"/>
            <a:ext cx="67326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dosat Bold Bold" pitchFamily="2" charset="77"/>
              </a:rPr>
              <a:t>↓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33731" y="3266089"/>
            <a:ext cx="2476509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476606" y="3408964"/>
            <a:ext cx="673261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Intelligence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552926" y="3428609"/>
            <a:ext cx="118622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04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476606" y="3641136"/>
            <a:ext cx="219075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Correlation with Threat Feeds, IOC databases, and TTP profiles.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095991" y="1485900"/>
            <a:ext cx="2476481" cy="22974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Decision &amp; Response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95991" y="1925241"/>
            <a:ext cx="2476481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38866" y="2068116"/>
            <a:ext cx="763029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Warning Gen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315158" y="2087761"/>
            <a:ext cx="115416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05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38866" y="2300288"/>
            <a:ext cx="21907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Confidence assessment, Risk scoring, Time window estimation.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300568" y="2746387"/>
            <a:ext cx="67326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dosat Bold Bold" pitchFamily="2" charset="77"/>
              </a:rPr>
              <a:t>↓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95991" y="2937477"/>
            <a:ext cx="2476481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238866" y="3080352"/>
            <a:ext cx="378309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Action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315158" y="3099997"/>
            <a:ext cx="113814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06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238866" y="3312523"/>
            <a:ext cx="21907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Recommendations: Immediate (Block), Short-term (Patch), Long-term (Harden).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300568" y="3758623"/>
            <a:ext cx="67326" cy="1678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Indosat Bold Bold" pitchFamily="2" charset="77"/>
              </a:rPr>
              <a:t>↓</a:t>
            </a:r>
            <a:endParaRPr lang="en-US" sz="1050" dirty="0">
              <a:latin typeface="Indosat Bold Bold" pitchFamily="2" charset="7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95991" y="3949712"/>
            <a:ext cx="2476481" cy="812211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38866" y="4092587"/>
            <a:ext cx="40395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Output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315158" y="4112233"/>
            <a:ext cx="107402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  <a:latin typeface="Indosat Bold Bold" pitchFamily="2" charset="77"/>
              </a:rPr>
              <a:t>07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238866" y="4324759"/>
            <a:ext cx="21907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Delivery via API, Slack, Email, and SOC integration.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13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5266570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Multi-Platform SIEM Connectivity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53114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Unified Telemetry Aggregation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343025"/>
            <a:ext cx="3407569" cy="22974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Supported Platforms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1739503"/>
            <a:ext cx="1476366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Splunk Enterprise &amp; Cloud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2021681"/>
            <a:ext cx="67646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IBM QRadar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303859"/>
            <a:ext cx="1207062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Micro Focus ArcSight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2586038"/>
            <a:ext cx="673261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LogRhythm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2868216"/>
            <a:ext cx="886461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Elastic Security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3328988"/>
            <a:ext cx="3407569" cy="22974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Integration Capabilities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3725466"/>
            <a:ext cx="100990" cy="159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4375" y="3732609"/>
            <a:ext cx="1243930" cy="1597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Configurable Collection: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4372" y="3895569"/>
            <a:ext cx="3519962" cy="16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Pulls logs on defined intervals (default 1h) or real-time streams.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4175522"/>
            <a:ext cx="100990" cy="159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14375" y="4182666"/>
            <a:ext cx="1126912" cy="1597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Unified Normalization: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5321" y="4372782"/>
            <a:ext cx="4047747" cy="16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Transforms heterogeneous formats into a standard 256-feature schema.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" y="4625578"/>
            <a:ext cx="100990" cy="159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→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4375" y="4632722"/>
            <a:ext cx="537006" cy="1597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Reliability: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4375" y="4786626"/>
            <a:ext cx="3047144" cy="16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Built-in retry logic, error handling, and status monitoring.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407694" y="1343025"/>
            <a:ext cx="4164806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1475296"/>
            <a:ext cx="4057650" cy="163603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407694" y="3414713"/>
            <a:ext cx="4164806" cy="980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514850" y="3531691"/>
            <a:ext cx="713337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  <a:latin typeface="Indosat Bold Bold" pitchFamily="2" charset="77"/>
              </a:rPr>
              <a:t>Authentication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390098" y="3521869"/>
            <a:ext cx="101309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dosat Bold Bold" pitchFamily="2" charset="77"/>
              </a:rPr>
              <a:t>API Key / OAuth 2.0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514850" y="3837087"/>
            <a:ext cx="514564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  <a:latin typeface="Indosat Bold Bold" pitchFamily="2" charset="77"/>
              </a:rPr>
              <a:t>Encryption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447248" y="3827264"/>
            <a:ext cx="91852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dosat Bold Bold" pitchFamily="2" charset="77"/>
              </a:rPr>
              <a:t>TLS 1.3 (In-Transit)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514850" y="4142482"/>
            <a:ext cx="586699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  <a:latin typeface="Indosat Bold Bold" pitchFamily="2" charset="77"/>
              </a:rPr>
              <a:t>Data Output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374792" y="4132659"/>
            <a:ext cx="1917192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dosat Bold Bold" pitchFamily="2" charset="77"/>
              </a:rPr>
              <a:t>Normalized DataFrame (256 features)</a:t>
            </a:r>
            <a:endParaRPr lang="en-US" sz="78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955972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Endpoint Detection &amp; Response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486258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Process-Level Threat Visibility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282701"/>
            <a:ext cx="3086100" cy="187880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1397001"/>
            <a:ext cx="2857500" cy="2125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Supported Platforms</a:t>
            </a:r>
            <a:endParaRPr lang="en-US" sz="885" dirty="0">
              <a:latin typeface="Indosat Bold Bold" pitchFamily="2" charset="77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66690"/>
            <a:ext cx="100013" cy="100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250" y="1729185"/>
            <a:ext cx="1208664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CrowdStrike Falcon</a:t>
            </a:r>
            <a:endParaRPr lang="en-US" sz="942" dirty="0">
              <a:latin typeface="Indosat Bold Bold" pitchFamily="2" charset="77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27437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250" y="1989932"/>
            <a:ext cx="748603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SentinelOne</a:t>
            </a:r>
            <a:endParaRPr lang="en-US" sz="942" dirty="0">
              <a:latin typeface="Indosat Bold Bold" pitchFamily="2" charset="77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288184"/>
            <a:ext cx="87511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4748" y="2250679"/>
            <a:ext cx="1168590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Microsoft Defender</a:t>
            </a:r>
            <a:endParaRPr lang="en-US" sz="942" dirty="0">
              <a:latin typeface="Indosat Bold Bold" pitchFamily="2" charset="77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48931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7250" y="2511426"/>
            <a:ext cx="828753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Carbon Black</a:t>
            </a:r>
            <a:endParaRPr lang="en-US" sz="942" dirty="0">
              <a:latin typeface="Indosat Bold Bold" pitchFamily="2" charset="77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09678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7250" y="2772173"/>
            <a:ext cx="464871" cy="145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Tanium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71500" y="3361532"/>
            <a:ext cx="3086100" cy="177522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85800" y="3475832"/>
            <a:ext cx="2857500" cy="2125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Integration Method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85800" y="3808017"/>
            <a:ext cx="2857500" cy="123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555555"/>
                </a:solidFill>
                <a:latin typeface="Indosat Bold Bold" pitchFamily="2" charset="77"/>
              </a:rPr>
              <a:t>REST API Connections:</a:t>
            </a:r>
            <a:r>
              <a:rPr lang="en-US" sz="780" dirty="0">
                <a:solidFill>
                  <a:srgbClr val="555555"/>
                </a:solidFill>
                <a:latin typeface="Indosat Bold Bold" pitchFamily="2" charset="77"/>
              </a:rPr>
              <a:t>
 Secure, authenticated API integration with endpoint-specific credentials.
</a:t>
            </a:r>
            <a:r>
              <a:rPr lang="en-US" sz="734" b="1" dirty="0">
                <a:solidFill>
                  <a:srgbClr val="555555"/>
                </a:solidFill>
                <a:latin typeface="Indosat Bold Bold" pitchFamily="2" charset="77"/>
              </a:rPr>
              <a:t>Deployment Support:</a:t>
            </a:r>
            <a:r>
              <a:rPr lang="en-US" sz="780" dirty="0">
                <a:solidFill>
                  <a:srgbClr val="555555"/>
                </a:solidFill>
                <a:latin typeface="Indosat Bold Bold" pitchFamily="2" charset="77"/>
              </a:rPr>
              <a:t>
Compatible with both cloud-hosted SaaS consoles and on-premise management servers.</a:t>
            </a:r>
            <a:endParaRPr lang="en-US" sz="734" dirty="0">
              <a:latin typeface="Indosat Bold Bold" pitchFamily="2" charset="77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943350" y="1282700"/>
            <a:ext cx="4629150" cy="1526977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730" y="1354139"/>
            <a:ext cx="1702389" cy="1285847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943350" y="2854326"/>
            <a:ext cx="4629150" cy="2268141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4057650" y="2968626"/>
            <a:ext cx="4400550" cy="2125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  <a:latin typeface="Indosat Bold Bold" pitchFamily="2" charset="77"/>
              </a:rPr>
              <a:t>Telemetry Collection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4057650" y="3300810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6231" y="3379392"/>
            <a:ext cx="128588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429125" y="3300810"/>
            <a:ext cx="86882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Process Creation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4429125" y="3499049"/>
            <a:ext cx="17716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Command-line args, parent/child process chains.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6315075" y="3300810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730" y="3379392"/>
            <a:ext cx="96441" cy="1285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86550" y="3300810"/>
            <a:ext cx="573875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File Access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3" name="Text 22"/>
          <p:cNvSpPr/>
          <p:nvPr/>
        </p:nvSpPr>
        <p:spPr>
          <a:xfrm>
            <a:off x="6686550" y="3499049"/>
            <a:ext cx="17716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Read/write ops, suspicious modifications.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4" name="Shape 23"/>
          <p:cNvSpPr/>
          <p:nvPr/>
        </p:nvSpPr>
        <p:spPr>
          <a:xfrm>
            <a:off x="4057650" y="3893351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0158" y="3971932"/>
            <a:ext cx="160734" cy="12858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429125" y="3893351"/>
            <a:ext cx="865622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Network Activity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4429125" y="4091590"/>
            <a:ext cx="17716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Connection attempts, ports, protocols.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6315075" y="3893351"/>
            <a:ext cx="28575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7583" y="3971932"/>
            <a:ext cx="160734" cy="1285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686550" y="3893351"/>
            <a:ext cx="767839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User &amp; Registry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6686550" y="4091590"/>
            <a:ext cx="17716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Auth events, privilege escalation, config changes.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222805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Multi-Cloud Logging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395160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Unified Visibility Across AWS, Azure, GCP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320924"/>
            <a:ext cx="30575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The system aggregates audit logs, network telemetry, and identity events from all major cloud providers into a single, normalized stream for holistic threat detection.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243807"/>
            <a:ext cx="3057525" cy="55006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243807"/>
            <a:ext cx="28575" cy="55006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243807"/>
            <a:ext cx="3057525" cy="51257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dosat Bold Bold" pitchFamily="2" charset="77"/>
              </a:rPr>
              <a:t>Normalization Strategy:</a:t>
            </a:r>
            <a:r>
              <a:rPr lang="en-US" sz="727" dirty="0">
                <a:solidFill>
                  <a:srgbClr val="FFFFFF"/>
                </a:solidFill>
                <a:latin typeface="Indosat Bold Bold" pitchFamily="2" charset="77"/>
              </a:rPr>
              <a:t>
 Abstracts provider-specific schemas (e.g., CloudTrail JSON vs. Azure Monitor) into a common event model.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86200" y="1271588"/>
            <a:ext cx="468630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708" y="1314450"/>
            <a:ext cx="2280977" cy="14858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1500" y="3014663"/>
            <a:ext cx="2571750" cy="159841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133427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406" y="3121819"/>
            <a:ext cx="322204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AWS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78656" y="3473648"/>
            <a:ext cx="51937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CloudTrail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78656" y="3629025"/>
            <a:ext cx="1646285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Management &amp; data events, API calls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78656" y="3812977"/>
            <a:ext cx="75982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VPC Flow Logs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78656" y="3968353"/>
            <a:ext cx="1442703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Network traffic IP/port telemetry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78656" y="4152305"/>
            <a:ext cx="56425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GuardDuty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78656" y="4307681"/>
            <a:ext cx="1537280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Intelligent threat detection findings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3286125" y="3014663"/>
            <a:ext cx="2571750" cy="159841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281" y="3133427"/>
            <a:ext cx="150019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14738" y="3121819"/>
            <a:ext cx="375103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Azure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3393281" y="3473648"/>
            <a:ext cx="71173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Azure Monitor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3393281" y="3629025"/>
            <a:ext cx="1368965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Platform metrics &amp; activity logs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3393281" y="3812977"/>
            <a:ext cx="75341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NSG Flow Logs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3393281" y="3968353"/>
            <a:ext cx="1700787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Network security group traffic analysis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3393281" y="4152305"/>
            <a:ext cx="41517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Sentinel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3393281" y="4307681"/>
            <a:ext cx="1312860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Cloud-native SIEM integration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000750" y="3014663"/>
            <a:ext cx="2571750" cy="159841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7906" y="3133427"/>
            <a:ext cx="164306" cy="1714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43650" y="3121819"/>
            <a:ext cx="282129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GCP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107906" y="3473648"/>
            <a:ext cx="73738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Cloud Logging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6107906" y="3629025"/>
            <a:ext cx="1292020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Centralized log management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6107906" y="3812977"/>
            <a:ext cx="75982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VPC Flow Logs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6107906" y="3968353"/>
            <a:ext cx="1500411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Network telemetry &amp; firewall rules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6107906" y="4152305"/>
            <a:ext cx="1376980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Security Command Center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107906" y="4307681"/>
            <a:ext cx="1569340" cy="108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Asset discovery &amp; threat prevention</a:t>
            </a:r>
            <a:endParaRPr lang="en-US" sz="67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2938" y="428625"/>
            <a:ext cx="807243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Enterprise-Grade Security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66192"/>
            <a:ext cx="8072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Built-in Protection, Compliance, and Governance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43025"/>
            <a:ext cx="2666991" cy="324683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471613" y="1485900"/>
            <a:ext cx="571500" cy="571500"/>
          </a:xfrm>
          <a:prstGeom prst="ellipse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488" y="1657350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191" y="2128838"/>
            <a:ext cx="15583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Identity &amp; Access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71500" y="24717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728663" y="2478881"/>
            <a:ext cx="8713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Granular RBAC: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720110" y="2600260"/>
            <a:ext cx="2338670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Pre-defined roles (Admin, Analyst, Viewer) with custom permission sets.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71500" y="30432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728663" y="3050381"/>
            <a:ext cx="9372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SSO Integration: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720110" y="3187833"/>
            <a:ext cx="2338670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Native support for SAML 2.0 and OIDC (Okta, Azure AD).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571500" y="344328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728663" y="3450431"/>
            <a:ext cx="10439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MFA Enforcement: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720110" y="3591950"/>
            <a:ext cx="2338670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Mandatory multi-factor authentication for administrative actions.</a:t>
            </a:r>
            <a:endParaRPr lang="en-US" sz="834" dirty="0"/>
          </a:p>
        </p:txBody>
      </p:sp>
      <p:sp>
        <p:nvSpPr>
          <p:cNvPr id="20" name="Shape 16"/>
          <p:cNvSpPr/>
          <p:nvPr/>
        </p:nvSpPr>
        <p:spPr>
          <a:xfrm>
            <a:off x="428625" y="1343025"/>
            <a:ext cx="2652675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228975" y="1343025"/>
            <a:ext cx="2671763" cy="324683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279106" y="1485900"/>
            <a:ext cx="571500" cy="571500"/>
          </a:xfrm>
          <a:prstGeom prst="ellipse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1657350"/>
            <a:ext cx="200025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14651" y="2128838"/>
            <a:ext cx="15004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Data Protection</a:t>
            </a:r>
            <a:endParaRPr lang="en-US" sz="1090" dirty="0"/>
          </a:p>
        </p:txBody>
      </p:sp>
      <p:sp>
        <p:nvSpPr>
          <p:cNvPr id="25" name="Text 20"/>
          <p:cNvSpPr/>
          <p:nvPr/>
        </p:nvSpPr>
        <p:spPr>
          <a:xfrm>
            <a:off x="3376622" y="24717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3533784" y="2478881"/>
            <a:ext cx="1077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Encryption at Rest:</a:t>
            </a:r>
            <a:endParaRPr lang="en-US" sz="784" dirty="0"/>
          </a:p>
        </p:txBody>
      </p:sp>
      <p:sp>
        <p:nvSpPr>
          <p:cNvPr id="27" name="Text 22"/>
          <p:cNvSpPr/>
          <p:nvPr/>
        </p:nvSpPr>
        <p:spPr>
          <a:xfrm>
            <a:off x="3533784" y="2613719"/>
            <a:ext cx="2352638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AES-256 encryption for all stored telemetry and models.</a:t>
            </a:r>
            <a:endParaRPr lang="en-US" sz="834" dirty="0"/>
          </a:p>
        </p:txBody>
      </p:sp>
      <p:sp>
        <p:nvSpPr>
          <p:cNvPr id="28" name="Text 23"/>
          <p:cNvSpPr/>
          <p:nvPr/>
        </p:nvSpPr>
        <p:spPr>
          <a:xfrm>
            <a:off x="3376622" y="287178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9" name="Text 24"/>
          <p:cNvSpPr/>
          <p:nvPr/>
        </p:nvSpPr>
        <p:spPr>
          <a:xfrm>
            <a:off x="3533784" y="2878931"/>
            <a:ext cx="12149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Encryption in Transit:</a:t>
            </a:r>
            <a:endParaRPr lang="en-US" sz="784" dirty="0"/>
          </a:p>
        </p:txBody>
      </p:sp>
      <p:sp>
        <p:nvSpPr>
          <p:cNvPr id="30" name="Text 25"/>
          <p:cNvSpPr/>
          <p:nvPr/>
        </p:nvSpPr>
        <p:spPr>
          <a:xfrm>
            <a:off x="3533784" y="3015554"/>
            <a:ext cx="2102662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TLS 1.3 enforcement for all API and web traffic.</a:t>
            </a:r>
            <a:endParaRPr lang="en-US" sz="834" dirty="0"/>
          </a:p>
        </p:txBody>
      </p:sp>
      <p:sp>
        <p:nvSpPr>
          <p:cNvPr id="31" name="Text 26"/>
          <p:cNvSpPr/>
          <p:nvPr/>
        </p:nvSpPr>
        <p:spPr>
          <a:xfrm>
            <a:off x="3376622" y="32718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32" name="Text 27"/>
          <p:cNvSpPr/>
          <p:nvPr/>
        </p:nvSpPr>
        <p:spPr>
          <a:xfrm>
            <a:off x="3533784" y="3278981"/>
            <a:ext cx="10338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Key Management:</a:t>
            </a:r>
            <a:endParaRPr lang="en-US" sz="784" dirty="0"/>
          </a:p>
        </p:txBody>
      </p:sp>
      <p:sp>
        <p:nvSpPr>
          <p:cNvPr id="33" name="Text 28"/>
          <p:cNvSpPr/>
          <p:nvPr/>
        </p:nvSpPr>
        <p:spPr>
          <a:xfrm>
            <a:off x="3533784" y="3436508"/>
            <a:ext cx="2344796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Integration with AWS KMS / Azure Key Vault for key rotation.</a:t>
            </a:r>
            <a:endParaRPr lang="en-US" sz="834" dirty="0"/>
          </a:p>
        </p:txBody>
      </p:sp>
      <p:sp>
        <p:nvSpPr>
          <p:cNvPr id="34" name="Shape 29"/>
          <p:cNvSpPr/>
          <p:nvPr/>
        </p:nvSpPr>
        <p:spPr>
          <a:xfrm>
            <a:off x="3233747" y="1343025"/>
            <a:ext cx="2652675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038869" y="1343025"/>
            <a:ext cx="2676534" cy="324683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096088" y="1485900"/>
            <a:ext cx="571500" cy="571500"/>
          </a:xfrm>
          <a:prstGeom prst="ellipse">
            <a:avLst/>
          </a:prstGeom>
          <a:solidFill>
            <a:srgbClr val="0052C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113" y="1657350"/>
            <a:ext cx="17145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60378" y="2128838"/>
            <a:ext cx="18429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Audit &amp; Governance</a:t>
            </a:r>
            <a:endParaRPr lang="en-US" sz="1090" dirty="0"/>
          </a:p>
        </p:txBody>
      </p:sp>
      <p:sp>
        <p:nvSpPr>
          <p:cNvPr id="39" name="Text 33"/>
          <p:cNvSpPr/>
          <p:nvPr/>
        </p:nvSpPr>
        <p:spPr>
          <a:xfrm>
            <a:off x="6191231" y="24717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40" name="Text 34"/>
          <p:cNvSpPr/>
          <p:nvPr/>
        </p:nvSpPr>
        <p:spPr>
          <a:xfrm>
            <a:off x="6348394" y="2478881"/>
            <a:ext cx="9642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Immutable Logs:</a:t>
            </a:r>
            <a:endParaRPr lang="en-US" sz="784" dirty="0"/>
          </a:p>
        </p:txBody>
      </p:sp>
      <p:sp>
        <p:nvSpPr>
          <p:cNvPr id="41" name="Text 35"/>
          <p:cNvSpPr/>
          <p:nvPr/>
        </p:nvSpPr>
        <p:spPr>
          <a:xfrm>
            <a:off x="6353649" y="2586037"/>
            <a:ext cx="2347382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Tamper-evident audit trails for all user and system activities.</a:t>
            </a:r>
            <a:endParaRPr lang="en-US" sz="834" dirty="0"/>
          </a:p>
        </p:txBody>
      </p:sp>
      <p:sp>
        <p:nvSpPr>
          <p:cNvPr id="42" name="Text 36"/>
          <p:cNvSpPr/>
          <p:nvPr/>
        </p:nvSpPr>
        <p:spPr>
          <a:xfrm>
            <a:off x="6191231" y="287178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43" name="Text 37"/>
          <p:cNvSpPr/>
          <p:nvPr/>
        </p:nvSpPr>
        <p:spPr>
          <a:xfrm>
            <a:off x="6348394" y="2878931"/>
            <a:ext cx="9358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Full Traceability:</a:t>
            </a:r>
            <a:endParaRPr lang="en-US" sz="784" dirty="0"/>
          </a:p>
        </p:txBody>
      </p:sp>
      <p:sp>
        <p:nvSpPr>
          <p:cNvPr id="44" name="Text 38"/>
          <p:cNvSpPr/>
          <p:nvPr/>
        </p:nvSpPr>
        <p:spPr>
          <a:xfrm>
            <a:off x="6348394" y="3005733"/>
            <a:ext cx="2347382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Detailed recording of who accessed what data and when.</a:t>
            </a:r>
            <a:endParaRPr lang="en-US" sz="834" dirty="0"/>
          </a:p>
        </p:txBody>
      </p:sp>
      <p:sp>
        <p:nvSpPr>
          <p:cNvPr id="45" name="Text 39"/>
          <p:cNvSpPr/>
          <p:nvPr/>
        </p:nvSpPr>
        <p:spPr>
          <a:xfrm>
            <a:off x="6191231" y="3271838"/>
            <a:ext cx="851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46" name="Text 40"/>
          <p:cNvSpPr/>
          <p:nvPr/>
        </p:nvSpPr>
        <p:spPr>
          <a:xfrm>
            <a:off x="6348394" y="3278981"/>
            <a:ext cx="998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44444"/>
                </a:solidFill>
              </a:rPr>
              <a:t>SIEM Forwarding:</a:t>
            </a:r>
            <a:endParaRPr lang="en-US" sz="784" dirty="0"/>
          </a:p>
        </p:txBody>
      </p:sp>
      <p:sp>
        <p:nvSpPr>
          <p:cNvPr id="47" name="Text 41"/>
          <p:cNvSpPr/>
          <p:nvPr/>
        </p:nvSpPr>
        <p:spPr>
          <a:xfrm>
            <a:off x="6354658" y="3422046"/>
            <a:ext cx="2341117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Real-time export of security logs to external monitoring tools.</a:t>
            </a:r>
            <a:endParaRPr lang="en-US" sz="834" dirty="0"/>
          </a:p>
        </p:txBody>
      </p:sp>
      <p:sp>
        <p:nvSpPr>
          <p:cNvPr id="48" name="Shape 42"/>
          <p:cNvSpPr/>
          <p:nvPr/>
        </p:nvSpPr>
        <p:spPr>
          <a:xfrm>
            <a:off x="6048356" y="1343025"/>
            <a:ext cx="2652675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428625" y="4697016"/>
            <a:ext cx="8286750" cy="37504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642938" y="4816673"/>
            <a:ext cx="1365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</a:rPr>
              <a:t>Compliance Readiness</a:t>
            </a:r>
            <a:endParaRPr lang="en-US" sz="683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4039" y="4820245"/>
            <a:ext cx="128588" cy="128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504064" y="4797028"/>
            <a:ext cx="8314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SOC 2 Type II</a:t>
            </a:r>
            <a:endParaRPr lang="en-US" sz="885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980" y="4820245"/>
            <a:ext cx="128588" cy="128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707005" y="4797028"/>
            <a:ext cx="6244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ISO 27001</a:t>
            </a:r>
            <a:endParaRPr lang="en-US" sz="885" dirty="0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891" y="4820245"/>
            <a:ext cx="128588" cy="128588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7702916" y="4797028"/>
            <a:ext cx="7981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GDPR / CCPA</a:t>
            </a:r>
            <a:endParaRPr lang="en-US" sz="88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190378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Single-Server Deployment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79563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Simplified On-Premise Installation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888860"/>
            <a:ext cx="3407569" cy="237529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66817" y="2031735"/>
            <a:ext cx="121693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CCCCC"/>
                </a:solidFill>
                <a:latin typeface="Indosat Bold Bold" pitchFamily="2" charset="77"/>
              </a:rPr>
              <a:t>Host Server (Physical / VM)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14375" y="2274622"/>
            <a:ext cx="3121819" cy="150197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399638"/>
            <a:ext cx="125016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3697" y="2381779"/>
            <a:ext cx="1354538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dosat Bold Bold" pitchFamily="2" charset="77"/>
              </a:rPr>
              <a:t>Docker Compose Orchestrator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21531" y="2588947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1531" y="2588947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Data Collector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311003" y="2588947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311003" y="2588947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Prediction Engine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1531" y="2965780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1531" y="2965780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Defense Orchestrator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311003" y="2965780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311003" y="2965780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API Gateway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21531" y="3342613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21531" y="3342613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PostgreSQL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311003" y="3342613"/>
            <a:ext cx="1418034" cy="312539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311003" y="3342613"/>
            <a:ext cx="1418034" cy="3125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  <a:latin typeface="Indosat Bold Bold" pitchFamily="2" charset="77"/>
              </a:rPr>
              <a:t>Redis Cache</a:t>
            </a:r>
            <a:endParaRPr lang="en-US" sz="634" dirty="0">
              <a:latin typeface="Indosat Bold Bold" pitchFamily="2" charset="7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14375" y="3826602"/>
            <a:ext cx="3121819" cy="273248"/>
          </a:xfrm>
          <a:prstGeom prst="rect">
            <a:avLst/>
          </a:prstGeom>
          <a:solidFill>
            <a:srgbClr val="333333"/>
          </a:solidFill>
          <a:ln w="9144">
            <a:solidFill>
              <a:srgbClr val="555555"/>
            </a:solidFill>
            <a:prstDash val="dash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14375" y="3826602"/>
            <a:ext cx="3121819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  <a:latin typeface="Indosat Bold Bold" pitchFamily="2" charset="77"/>
              </a:rPr>
              <a:t>Shared Storage Volume (Persistent Data)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407694" y="1138766"/>
            <a:ext cx="1414939" cy="18678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Hardware Requirements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407694" y="1470950"/>
            <a:ext cx="4164806" cy="13430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407694" y="1470950"/>
            <a:ext cx="1665917" cy="330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407694" y="1794205"/>
            <a:ext cx="166591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407694" y="1467577"/>
            <a:ext cx="1665917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CPU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073611" y="1465792"/>
            <a:ext cx="2498889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8+ vCPUs (AVX2 Support)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407694" y="1797777"/>
            <a:ext cx="1665917" cy="330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4407694" y="2121032"/>
            <a:ext cx="166591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407694" y="1794404"/>
            <a:ext cx="1665917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Memory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073611" y="1792619"/>
            <a:ext cx="2498889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32 GB RAM Minimum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407694" y="2124604"/>
            <a:ext cx="1665917" cy="330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4407694" y="2447858"/>
            <a:ext cx="166591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4407694" y="2121231"/>
            <a:ext cx="1665917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Storage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073611" y="2119446"/>
            <a:ext cx="2498889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500 GB SSD (NVMe Preferred)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4407694" y="2451430"/>
            <a:ext cx="1665917" cy="3303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4407694" y="2774685"/>
            <a:ext cx="166591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4407694" y="2448057"/>
            <a:ext cx="1665917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Network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6073611" y="2446272"/>
            <a:ext cx="2498889" cy="3371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44444"/>
                </a:solidFill>
                <a:latin typeface="Indosat Bold Bold" pitchFamily="2" charset="77"/>
              </a:rPr>
              <a:t>1 Gbps Interface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407694" y="2996141"/>
            <a:ext cx="1307666" cy="18678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Software Prerequisites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4407694" y="3328325"/>
            <a:ext cx="75342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✓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4586288" y="3328325"/>
            <a:ext cx="176330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OS: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4772834" y="3328325"/>
            <a:ext cx="1477969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Ubuntu 20.04 LTS / RHEL 8+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4407694" y="3569427"/>
            <a:ext cx="75342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✓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4586288" y="3569427"/>
            <a:ext cx="464871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Runtime: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5108758" y="3569427"/>
            <a:ext cx="1147750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Docker Engine 20.10+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4407694" y="3810529"/>
            <a:ext cx="75342" cy="130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✓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4586288" y="3810529"/>
            <a:ext cx="38792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Drivers: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5031488" y="3810529"/>
            <a:ext cx="2228174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dosat Bold Bold" pitchFamily="2" charset="77"/>
              </a:rPr>
              <a:t>NVIDIA Container Toolkit (if GPU enabled)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4407694" y="4265943"/>
            <a:ext cx="4164806" cy="716161"/>
          </a:xfrm>
          <a:prstGeom prst="rect">
            <a:avLst/>
          </a:prstGeom>
          <a:solidFill>
            <a:srgbClr val="E6F0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4407694" y="4265943"/>
            <a:ext cx="28575" cy="716161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4514850" y="4373099"/>
            <a:ext cx="1442703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  <a:latin typeface="Indosat Bold Bold" pitchFamily="2" charset="77"/>
              </a:rPr>
              <a:t>Ideal Deployment Scenarios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7" name="Text 53"/>
          <p:cNvSpPr/>
          <p:nvPr/>
        </p:nvSpPr>
        <p:spPr>
          <a:xfrm>
            <a:off x="4514850" y="4580268"/>
            <a:ext cx="3744615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Proof of Concept (POC), Small to Medium Enterprises, Air-gapped High Security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4514850" y="4735644"/>
            <a:ext cx="317395" cy="109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44444"/>
                </a:solidFill>
                <a:latin typeface="Indosat Bold Bold" pitchFamily="2" charset="77"/>
              </a:rPr>
              <a:t>Zones.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680512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Enterprise-Scale Deployment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933495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Multi-Node Distributed Architecture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14463"/>
            <a:ext cx="3471863" cy="102334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00088" y="1543050"/>
            <a:ext cx="342900" cy="3429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11" y="1635919"/>
            <a:ext cx="196453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7288" y="1543050"/>
            <a:ext cx="1086836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Collection Nodes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57288" y="1780580"/>
            <a:ext cx="275748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Horizontally scalable ingestion layer capable of handling 100k+ EPS. Performs initial normalization and buffering.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71500" y="2566392"/>
            <a:ext cx="3471863" cy="102334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00088" y="2694980"/>
            <a:ext cx="342900" cy="3429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2787848"/>
            <a:ext cx="157163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57288" y="2694980"/>
            <a:ext cx="1083630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Prediction Nodes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57288" y="2932509"/>
            <a:ext cx="275748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Dedicated GPU clusters for parallel model inference. Supports dynamic scaling based on analysis load.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71500" y="3718322"/>
            <a:ext cx="3471863" cy="102334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00088" y="3846909"/>
            <a:ext cx="342900" cy="3429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34" y="3939778"/>
            <a:ext cx="176808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57288" y="3846909"/>
            <a:ext cx="1248740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Orchestration Node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157288" y="4084439"/>
            <a:ext cx="2757488" cy="52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Centralized decision logic, API management, and threat intelligence correlation. Acts as the system brain.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329113" y="1414463"/>
            <a:ext cx="4243388" cy="185737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5259" y="1500188"/>
            <a:ext cx="2951066" cy="168589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29113" y="3414713"/>
            <a:ext cx="4243388" cy="172164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457700" y="3921919"/>
            <a:ext cx="3986213" cy="2125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0052CC"/>
                </a:solidFill>
                <a:latin typeface="Indosat Bold Bold" pitchFamily="2" charset="77"/>
              </a:rPr>
              <a:t>Scalability &amp; Resilience</a:t>
            </a:r>
            <a:endParaRPr lang="en-US" sz="885" dirty="0">
              <a:latin typeface="Indosat Bold Bold" pitchFamily="2" charset="77"/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4253210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43438" y="4232672"/>
            <a:ext cx="1324080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No Single Point of Failure</a:t>
            </a:r>
            <a:endParaRPr lang="en-US" sz="834" dirty="0">
              <a:latin typeface="Indosat Bold Bold" pitchFamily="2" charset="77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3669" y="4253210"/>
            <a:ext cx="114300" cy="1143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79406" y="4232672"/>
            <a:ext cx="931345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Linear Scalability</a:t>
            </a:r>
            <a:endParaRPr lang="en-US" sz="834" dirty="0">
              <a:latin typeface="Indosat Bold Bold" pitchFamily="2" charset="77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4494312"/>
            <a:ext cx="114300" cy="1143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643438" y="4473773"/>
            <a:ext cx="1146148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High Availability (HA)</a:t>
            </a:r>
            <a:endParaRPr lang="en-US" sz="834" dirty="0">
              <a:latin typeface="Indosat Bold Bold" pitchFamily="2" charset="77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3669" y="4494312"/>
            <a:ext cx="114300" cy="1143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679406" y="4473773"/>
            <a:ext cx="974626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dosat Bold Bold" pitchFamily="2" charset="77"/>
              </a:rPr>
              <a:t>Geo-Redundancy</a:t>
            </a:r>
            <a:endParaRPr lang="en-US" sz="83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185698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Cloud-Native Deployment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739533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AWS, Azure, and GCP Integration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485900"/>
            <a:ext cx="4629150" cy="100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dosat Bold Bold" pitchFamily="2" charset="77"/>
              </a:rPr>
              <a:t>The system utilizes a container-first architecture, leveraging managed Kubernetes services for core logic and cloud-native PaaS components for data persistence and messaging. This ensures high availability, auto-scaling, and minimal operational overhead across any major cloud provider.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595581"/>
            <a:ext cx="4629150" cy="152340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595581"/>
            <a:ext cx="1256854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594204"/>
            <a:ext cx="1256854" cy="23314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dosat Bold Bold" pitchFamily="2" charset="77"/>
              </a:rPr>
              <a:t>Component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28354" y="2595581"/>
            <a:ext cx="1003920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28354" y="2594204"/>
            <a:ext cx="1003920" cy="23314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dosat Bold Bold" pitchFamily="2" charset="77"/>
              </a:rPr>
              <a:t>AWS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832274" y="2595581"/>
            <a:ext cx="1070111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832274" y="2594204"/>
            <a:ext cx="1070111" cy="23314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dosat Bold Bold" pitchFamily="2" charset="77"/>
              </a:rPr>
              <a:t>Azure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902385" y="2595581"/>
            <a:ext cx="1298265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02385" y="2594204"/>
            <a:ext cx="1298265" cy="23314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dosat Bold Bold" pitchFamily="2" charset="77"/>
              </a:rPr>
              <a:t>GCP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2825967"/>
            <a:ext cx="1256854" cy="25360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1500" y="3072426"/>
            <a:ext cx="1256854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1500" y="2825967"/>
            <a:ext cx="125685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Orchestration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828354" y="2825967"/>
            <a:ext cx="1003920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EKS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32274" y="2825967"/>
            <a:ext cx="1070111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AKS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902385" y="2825967"/>
            <a:ext cx="1298265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GKE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71500" y="3079570"/>
            <a:ext cx="1256854" cy="2571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1500" y="3329601"/>
            <a:ext cx="1256854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71500" y="3085207"/>
            <a:ext cx="1256854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Database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828354" y="3085207"/>
            <a:ext cx="1003920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RDS Aurora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832274" y="3085207"/>
            <a:ext cx="1070111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Azure SQL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902385" y="3085207"/>
            <a:ext cx="1298265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Cloud SQL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71500" y="3336745"/>
            <a:ext cx="1256854" cy="2571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71500" y="3586776"/>
            <a:ext cx="1256854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71500" y="3342382"/>
            <a:ext cx="1256854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Messaging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828354" y="3342382"/>
            <a:ext cx="1003920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MSK (Kafka)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32274" y="3342382"/>
            <a:ext cx="1070111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Event Hubs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902385" y="3342382"/>
            <a:ext cx="1298265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Pub/Sub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71500" y="3593920"/>
            <a:ext cx="1256854" cy="2571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71500" y="3843951"/>
            <a:ext cx="1256854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71500" y="3599557"/>
            <a:ext cx="1256854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Object Storage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828354" y="3599557"/>
            <a:ext cx="1003920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S3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832274" y="3599557"/>
            <a:ext cx="1070111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Blob Storage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902385" y="3599557"/>
            <a:ext cx="1298265" cy="24590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Cloud Storage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71500" y="3851095"/>
            <a:ext cx="1256854" cy="25360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1500" y="3851095"/>
            <a:ext cx="125685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Serverless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828354" y="3851095"/>
            <a:ext cx="1003920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Lambda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832274" y="3851095"/>
            <a:ext cx="1070111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Functions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902385" y="3851095"/>
            <a:ext cx="1298265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44444"/>
                </a:solidFill>
                <a:latin typeface="Indosat Bold Bold" pitchFamily="2" charset="77"/>
              </a:rPr>
              <a:t>Cloud Functions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486400" y="1485900"/>
            <a:ext cx="308610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993" y="1557338"/>
            <a:ext cx="2388887" cy="1428722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5486400" y="3200400"/>
            <a:ext cx="3086100" cy="11697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5486400" y="3200400"/>
            <a:ext cx="28575" cy="1169789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5572125" y="3286125"/>
            <a:ext cx="1080424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Deployment Benefits</a:t>
            </a:r>
            <a:endParaRPr lang="en-US" sz="784" dirty="0">
              <a:latin typeface="Indosat Bold Bold" pitchFamily="2" charset="7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3630811"/>
            <a:ext cx="85725" cy="85725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729288" y="3527227"/>
            <a:ext cx="635431" cy="24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  <a:latin typeface="Indosat Bold Bold" pitchFamily="2" charset="77"/>
              </a:rPr>
              <a:t>Auto-Scaling:</a:t>
            </a:r>
            <a:endParaRPr lang="en-US" sz="734" dirty="0">
              <a:latin typeface="Indosat Bold Bold" pitchFamily="2" charset="77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6436156" y="3527227"/>
            <a:ext cx="2050619" cy="24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Indosat Bold Bold" pitchFamily="2" charset="77"/>
              </a:rPr>
              <a:t>Dynamic resource adjustment based on load.</a:t>
            </a:r>
            <a:endParaRPr lang="en-US" sz="780" dirty="0">
              <a:latin typeface="Indosat Bold Bold" pitchFamily="2" charset="77"/>
            </a:endParaRPr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907631"/>
            <a:ext cx="85725" cy="85725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729288" y="3877270"/>
            <a:ext cx="512961" cy="119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  <a:latin typeface="Indosat Bold Bold" pitchFamily="2" charset="77"/>
              </a:rPr>
              <a:t>Resilience:</a:t>
            </a:r>
            <a:endParaRPr lang="en-US" sz="734" dirty="0">
              <a:latin typeface="Indosat Bold Bold" pitchFamily="2" charset="77"/>
            </a:endParaRPr>
          </a:p>
        </p:txBody>
      </p:sp>
      <p:sp>
        <p:nvSpPr>
          <p:cNvPr id="56" name="Text 50"/>
          <p:cNvSpPr/>
          <p:nvPr/>
        </p:nvSpPr>
        <p:spPr>
          <a:xfrm>
            <a:off x="6368765" y="3877270"/>
            <a:ext cx="2043829" cy="121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Indosat Bold Bold" pitchFamily="2" charset="77"/>
              </a:rPr>
              <a:t>Multi-AZ deployment for 99.99% uptime.</a:t>
            </a:r>
            <a:endParaRPr lang="en-US" sz="780" dirty="0">
              <a:latin typeface="Indosat Bold Bold" pitchFamily="2" charset="77"/>
            </a:endParaRPr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25" y="4111228"/>
            <a:ext cx="85725" cy="85725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5729288" y="4080867"/>
            <a:ext cx="426399" cy="119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44444"/>
                </a:solidFill>
                <a:latin typeface="Indosat Bold Bold" pitchFamily="2" charset="77"/>
              </a:rPr>
              <a:t>Security:</a:t>
            </a:r>
            <a:endParaRPr lang="en-US" sz="734" dirty="0">
              <a:latin typeface="Indosat Bold Bold" pitchFamily="2" charset="77"/>
            </a:endParaRPr>
          </a:p>
        </p:txBody>
      </p:sp>
      <p:sp>
        <p:nvSpPr>
          <p:cNvPr id="59" name="Text 52"/>
          <p:cNvSpPr/>
          <p:nvPr/>
        </p:nvSpPr>
        <p:spPr>
          <a:xfrm>
            <a:off x="6267943" y="4080867"/>
            <a:ext cx="2075889" cy="121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444444"/>
                </a:solidFill>
                <a:latin typeface="Indosat Bold Bold" pitchFamily="2" charset="77"/>
              </a:rPr>
              <a:t>Native IAM integration and VPC isolation.</a:t>
            </a:r>
            <a:endParaRPr lang="en-US" sz="78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4107022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Programmatic Integration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147155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Core API Methods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4204097" cy="10054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485900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68453" y="1485900"/>
            <a:ext cx="7144" cy="1005483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2484239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1485900"/>
            <a:ext cx="28575" cy="1005483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7225" y="1571625"/>
            <a:ext cx="428625" cy="192881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7225" y="1571625"/>
            <a:ext cx="428625" cy="1771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dosat Bold Bold" pitchFamily="2" charset="77"/>
              </a:rPr>
              <a:t>POST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71575" y="1580555"/>
            <a:ext cx="908903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/api/v1/predict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7225" y="1821656"/>
            <a:ext cx="40326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dosat Bold Bold" pitchFamily="2" charset="77"/>
              </a:rPr>
              <a:t>Triggers an ad-hoc prediction cycle for a specified time window. Useful for on-demand analysis after configuration changes.</a:t>
            </a:r>
            <a:endParaRPr lang="en-US" sz="780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7225" y="2178844"/>
            <a:ext cx="4032647" cy="21252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7225" y="2178844"/>
            <a:ext cx="4032647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Params: { "window_size": "24h", "model_version": "latest" }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1500" y="2562820"/>
            <a:ext cx="4204097" cy="10054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1500" y="2562820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68453" y="2562820"/>
            <a:ext cx="7144" cy="1005483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71500" y="3561159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71500" y="2562820"/>
            <a:ext cx="28575" cy="100548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57225" y="2648545"/>
            <a:ext cx="428625" cy="192881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7225" y="2648545"/>
            <a:ext cx="428625" cy="1771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dosat Bold Bold" pitchFamily="2" charset="77"/>
              </a:rPr>
              <a:t>GET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71575" y="2657475"/>
            <a:ext cx="908903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/api/v1/reports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7225" y="2898577"/>
            <a:ext cx="40326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dosat Bold Bold" pitchFamily="2" charset="77"/>
              </a:rPr>
              <a:t>Retrieves generated threat reports and prediction summaries. Supports filtering by severity and date range.</a:t>
            </a:r>
            <a:endParaRPr lang="en-US" sz="780" dirty="0">
              <a:latin typeface="Indosat Bold Bold" pitchFamily="2" charset="7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7225" y="3255764"/>
            <a:ext cx="4032647" cy="21252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57225" y="3255764"/>
            <a:ext cx="4032647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Query: ?format=json&amp;severity=critical&amp;limit=10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71500" y="3639741"/>
            <a:ext cx="4204097" cy="10054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71500" y="3639741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768453" y="3639741"/>
            <a:ext cx="7144" cy="1005483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71500" y="4638080"/>
            <a:ext cx="4204097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71500" y="3639741"/>
            <a:ext cx="28575" cy="1005483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57225" y="3725466"/>
            <a:ext cx="428625" cy="192881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57225" y="3725466"/>
            <a:ext cx="428625" cy="1771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dosat Bold Bold" pitchFamily="2" charset="77"/>
              </a:rPr>
              <a:t>PUT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171575" y="3734395"/>
            <a:ext cx="860813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Indosat Bold Bold" pitchFamily="2" charset="77"/>
              </a:rPr>
              <a:t>/api/v1/config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57225" y="3975497"/>
            <a:ext cx="40326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dosat Bold Bold" pitchFamily="2" charset="77"/>
              </a:rPr>
              <a:t>Dynamically updates system thresholds and sensitivity settings without requiring a service restart.</a:t>
            </a:r>
            <a:endParaRPr lang="en-US" sz="780" dirty="0">
              <a:latin typeface="Indosat Bold Bold" pitchFamily="2" charset="7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57225" y="4332684"/>
            <a:ext cx="4032647" cy="21252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7225" y="4332684"/>
            <a:ext cx="4032647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Body: { "anomaly_threshold": 0.85, "auto_block": true }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5132784" y="1485900"/>
            <a:ext cx="3439716" cy="32289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132784" y="1485900"/>
            <a:ext cx="3439716" cy="23753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132784" y="1716286"/>
            <a:ext cx="3439716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675709" y="1543050"/>
            <a:ext cx="920124" cy="96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Indosat Bold Bold" pitchFamily="2" charset="77"/>
              </a:rPr>
              <a:t>response_sample.json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32784" y="1716286"/>
            <a:ext cx="3439716" cy="111440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{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"prediction_id"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"pred_8x92m"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"timestamp"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"2023-10-27T14:30:00Z"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"status"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"completed"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"results"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[ {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"target_ip"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"10.0.4.25"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"risk_score"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B5CEA8"/>
                </a:solidFill>
                <a:latin typeface="Indosat Bold Bold" pitchFamily="2" charset="77"/>
              </a:rPr>
              <a:t>0.92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"predicted_attack"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"T1110_Brute_Force"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"confidence"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B5CEA8"/>
                </a:solidFill>
                <a:latin typeface="Indosat Bold Bold" pitchFamily="2" charset="77"/>
              </a:rPr>
              <a:t>0.88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"lead_time_hours"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B5CEA8"/>
                </a:solidFill>
                <a:latin typeface="Indosat Bold Bold" pitchFamily="2" charset="77"/>
              </a:rPr>
              <a:t>4.5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"recommended_action"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"block_ip_source"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 } ],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"meta"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{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"model_version"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CE9178"/>
                </a:solidFill>
                <a:latin typeface="Indosat Bold Bold" pitchFamily="2" charset="77"/>
              </a:rPr>
              <a:t>"v2.4.1"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, </a:t>
            </a:r>
            <a:r>
              <a:rPr lang="en-US" sz="727" dirty="0">
                <a:solidFill>
                  <a:srgbClr val="9CDCFE"/>
                </a:solidFill>
                <a:latin typeface="Indosat Bold Bold" pitchFamily="2" charset="77"/>
              </a:rPr>
              <a:t>"processing_ms"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: </a:t>
            </a:r>
            <a:r>
              <a:rPr lang="en-US" sz="727" dirty="0">
                <a:solidFill>
                  <a:srgbClr val="B5CEA8"/>
                </a:solidFill>
                <a:latin typeface="Indosat Bold Bold" pitchFamily="2" charset="77"/>
              </a:rPr>
              <a:t>145</a:t>
            </a:r>
            <a:r>
              <a:rPr lang="en-US" sz="727" dirty="0">
                <a:solidFill>
                  <a:srgbClr val="D4D4D4"/>
                </a:solidFill>
                <a:latin typeface="Indosat Bold Bold" pitchFamily="2" charset="77"/>
              </a:rPr>
              <a:t> } }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279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020955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Operational Tuning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808461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System Configuration Parameters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328738"/>
            <a:ext cx="3957638" cy="16698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30536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1538" y="1414463"/>
            <a:ext cx="998671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Prediction Engine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57225" y="1702505"/>
            <a:ext cx="1893094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Parameter &amp; Description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550319" y="1702505"/>
            <a:ext cx="757238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Type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307556" y="1702505"/>
            <a:ext cx="1135856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Default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7225" y="1884164"/>
            <a:ext cx="921727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prediction_threshold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7225" y="2041327"/>
            <a:ext cx="1473160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Min confidence to trigger an alert.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550319" y="1855589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Float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307556" y="1871663"/>
            <a:ext cx="284383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307556" y="1871663"/>
            <a:ext cx="434711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0.75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57225" y="2234208"/>
            <a:ext cx="748603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forecast_horizon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57225" y="2391370"/>
            <a:ext cx="1024319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Future window (hours).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550319" y="2202061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Int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307556" y="2221706"/>
            <a:ext cx="212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307556" y="2221706"/>
            <a:ext cx="296632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24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57225" y="2584252"/>
            <a:ext cx="80310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enable_ensemble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57225" y="2741414"/>
            <a:ext cx="1588576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Use weighted voting across models.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550319" y="2552105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Bool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307556" y="2571750"/>
            <a:ext cx="281983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307556" y="2571750"/>
            <a:ext cx="389139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true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614863" y="1328738"/>
            <a:ext cx="3957638" cy="16698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588" y="1430536"/>
            <a:ext cx="142875" cy="1428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14900" y="1414463"/>
            <a:ext cx="1125308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Anomaly Detection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700588" y="1702505"/>
            <a:ext cx="1893094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Parameter &amp; Description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6593681" y="1702505"/>
            <a:ext cx="757238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Type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7350919" y="1702505"/>
            <a:ext cx="1135856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Default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4700588" y="1884164"/>
            <a:ext cx="72295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sensitivity_level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4700588" y="2041327"/>
            <a:ext cx="1357744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Reconstruction error tolerance.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593681" y="1855589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Enum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7350919" y="1871663"/>
            <a:ext cx="541753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350919" y="1871663"/>
            <a:ext cx="757238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"MEDIUM"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4700588" y="2234208"/>
            <a:ext cx="796693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baseline_window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4700588" y="2391370"/>
            <a:ext cx="1038746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Historical period (days).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6593681" y="2202061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Days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7350919" y="2221706"/>
            <a:ext cx="212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7350919" y="2221706"/>
            <a:ext cx="367233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30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4700588" y="2584252"/>
            <a:ext cx="545021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auto_retrain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4700588" y="2741414"/>
            <a:ext cx="1325684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Auto-update normal patterns.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6593681" y="2552105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Bool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7" name="Shape 42"/>
          <p:cNvSpPr/>
          <p:nvPr/>
        </p:nvSpPr>
        <p:spPr>
          <a:xfrm>
            <a:off x="7350919" y="2571750"/>
            <a:ext cx="303414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7350918" y="2571750"/>
            <a:ext cx="389139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false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571500" y="3084314"/>
            <a:ext cx="3957638" cy="16698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186113"/>
            <a:ext cx="160734" cy="142875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89397" y="3170039"/>
            <a:ext cx="777457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Attack Graph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52" name="Text 46"/>
          <p:cNvSpPr/>
          <p:nvPr/>
        </p:nvSpPr>
        <p:spPr>
          <a:xfrm>
            <a:off x="657225" y="3458081"/>
            <a:ext cx="1893094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Parameter &amp; Description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2550319" y="3458081"/>
            <a:ext cx="757238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Type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54" name="Text 48"/>
          <p:cNvSpPr/>
          <p:nvPr/>
        </p:nvSpPr>
        <p:spPr>
          <a:xfrm>
            <a:off x="3307556" y="3458081"/>
            <a:ext cx="1135856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Default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55" name="Text 49"/>
          <p:cNvSpPr/>
          <p:nvPr/>
        </p:nvSpPr>
        <p:spPr>
          <a:xfrm>
            <a:off x="657225" y="3639741"/>
            <a:ext cx="777457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max_path_depth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56" name="Text 50"/>
          <p:cNvSpPr/>
          <p:nvPr/>
        </p:nvSpPr>
        <p:spPr>
          <a:xfrm>
            <a:off x="657225" y="3796903"/>
            <a:ext cx="1354538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Max hops to analyze in chains.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57" name="Text 51"/>
          <p:cNvSpPr/>
          <p:nvPr/>
        </p:nvSpPr>
        <p:spPr>
          <a:xfrm>
            <a:off x="2550319" y="3611166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Int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3307556" y="3627239"/>
            <a:ext cx="212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3307556" y="3627239"/>
            <a:ext cx="363958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10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60" name="Text 54"/>
          <p:cNvSpPr/>
          <p:nvPr/>
        </p:nvSpPr>
        <p:spPr>
          <a:xfrm>
            <a:off x="657225" y="3989784"/>
            <a:ext cx="843180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risk_scoring_mode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657225" y="4146947"/>
            <a:ext cx="1001877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Algorithm for path risk.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2550319" y="3957638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Enum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63" name="Shape 57"/>
          <p:cNvSpPr/>
          <p:nvPr/>
        </p:nvSpPr>
        <p:spPr>
          <a:xfrm>
            <a:off x="3307556" y="3977283"/>
            <a:ext cx="624464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4" name="Text 58"/>
          <p:cNvSpPr/>
          <p:nvPr/>
        </p:nvSpPr>
        <p:spPr>
          <a:xfrm>
            <a:off x="3307556" y="3977283"/>
            <a:ext cx="795132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"STANDARD"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657225" y="4339828"/>
            <a:ext cx="966611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asset_criticality_map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66" name="Text 60"/>
          <p:cNvSpPr/>
          <p:nvPr/>
        </p:nvSpPr>
        <p:spPr>
          <a:xfrm>
            <a:off x="657225" y="4496991"/>
            <a:ext cx="1513235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Path to JSON of high-value assets.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67" name="Text 61"/>
          <p:cNvSpPr/>
          <p:nvPr/>
        </p:nvSpPr>
        <p:spPr>
          <a:xfrm>
            <a:off x="2550319" y="4307681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Path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68" name="Shape 62"/>
          <p:cNvSpPr/>
          <p:nvPr/>
        </p:nvSpPr>
        <p:spPr>
          <a:xfrm>
            <a:off x="3307556" y="4327327"/>
            <a:ext cx="795133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9" name="Text 63"/>
          <p:cNvSpPr/>
          <p:nvPr/>
        </p:nvSpPr>
        <p:spPr>
          <a:xfrm>
            <a:off x="3307556" y="4327327"/>
            <a:ext cx="1001977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/conf/assets.json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70" name="Shape 64"/>
          <p:cNvSpPr/>
          <p:nvPr/>
        </p:nvSpPr>
        <p:spPr>
          <a:xfrm>
            <a:off x="4614863" y="3084314"/>
            <a:ext cx="3957638" cy="1669852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588" y="3171825"/>
            <a:ext cx="178594" cy="142875"/>
          </a:xfrm>
          <a:prstGeom prst="rect">
            <a:avLst/>
          </a:prstGeom>
        </p:spPr>
      </p:pic>
      <p:sp>
        <p:nvSpPr>
          <p:cNvPr id="72" name="Text 65"/>
          <p:cNvSpPr/>
          <p:nvPr/>
        </p:nvSpPr>
        <p:spPr>
          <a:xfrm>
            <a:off x="4950619" y="3155752"/>
            <a:ext cx="1210268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dosat Bold Bold" pitchFamily="2" charset="77"/>
              </a:rPr>
              <a:t>System &amp; Integration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73" name="Text 66"/>
          <p:cNvSpPr/>
          <p:nvPr/>
        </p:nvSpPr>
        <p:spPr>
          <a:xfrm>
            <a:off x="4700588" y="3443794"/>
            <a:ext cx="1893094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Parameter &amp; Description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74" name="Text 67"/>
          <p:cNvSpPr/>
          <p:nvPr/>
        </p:nvSpPr>
        <p:spPr>
          <a:xfrm>
            <a:off x="6593681" y="3443794"/>
            <a:ext cx="757238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Type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75" name="Text 68"/>
          <p:cNvSpPr/>
          <p:nvPr/>
        </p:nvSpPr>
        <p:spPr>
          <a:xfrm>
            <a:off x="7350919" y="3443794"/>
            <a:ext cx="1135856" cy="147220"/>
          </a:xfrm>
          <a:prstGeom prst="rect">
            <a:avLst/>
          </a:prstGeom>
          <a:noFill/>
          <a:ln/>
        </p:spPr>
        <p:txBody>
          <a:bodyPr wrap="square" lIns="0" tIns="0" rIns="0" bIns="51054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888888"/>
                </a:solidFill>
                <a:latin typeface="Indosat Bold Bold" pitchFamily="2" charset="77"/>
              </a:rPr>
              <a:t>Default</a:t>
            </a:r>
            <a:endParaRPr lang="en-US" sz="584" dirty="0">
              <a:latin typeface="Indosat Bold Bold" pitchFamily="2" charset="77"/>
            </a:endParaRPr>
          </a:p>
        </p:txBody>
      </p:sp>
      <p:sp>
        <p:nvSpPr>
          <p:cNvPr id="76" name="Text 69"/>
          <p:cNvSpPr/>
          <p:nvPr/>
        </p:nvSpPr>
        <p:spPr>
          <a:xfrm>
            <a:off x="4700588" y="3625453"/>
            <a:ext cx="864019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log_retention_days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77" name="Text 70"/>
          <p:cNvSpPr/>
          <p:nvPr/>
        </p:nvSpPr>
        <p:spPr>
          <a:xfrm>
            <a:off x="4700588" y="3782616"/>
            <a:ext cx="955390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Duration to keep logs.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78" name="Text 71"/>
          <p:cNvSpPr/>
          <p:nvPr/>
        </p:nvSpPr>
        <p:spPr>
          <a:xfrm>
            <a:off x="6593681" y="3596878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Int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79" name="Shape 72"/>
          <p:cNvSpPr/>
          <p:nvPr/>
        </p:nvSpPr>
        <p:spPr>
          <a:xfrm>
            <a:off x="7350919" y="3612952"/>
            <a:ext cx="21238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0" name="Text 73"/>
          <p:cNvSpPr/>
          <p:nvPr/>
        </p:nvSpPr>
        <p:spPr>
          <a:xfrm>
            <a:off x="7350919" y="3612952"/>
            <a:ext cx="303414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90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81" name="Text 74"/>
          <p:cNvSpPr/>
          <p:nvPr/>
        </p:nvSpPr>
        <p:spPr>
          <a:xfrm>
            <a:off x="4700588" y="3975497"/>
            <a:ext cx="613951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api_rate_limit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82" name="Text 75"/>
          <p:cNvSpPr/>
          <p:nvPr/>
        </p:nvSpPr>
        <p:spPr>
          <a:xfrm>
            <a:off x="4700588" y="4132659"/>
            <a:ext cx="1426673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Max API requests/sec per client.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83" name="Text 76"/>
          <p:cNvSpPr/>
          <p:nvPr/>
        </p:nvSpPr>
        <p:spPr>
          <a:xfrm>
            <a:off x="6593681" y="3943350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Int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84" name="Shape 77"/>
          <p:cNvSpPr/>
          <p:nvPr/>
        </p:nvSpPr>
        <p:spPr>
          <a:xfrm>
            <a:off x="7350919" y="3962995"/>
            <a:ext cx="26141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5" name="Text 78"/>
          <p:cNvSpPr/>
          <p:nvPr/>
        </p:nvSpPr>
        <p:spPr>
          <a:xfrm>
            <a:off x="7350919" y="3962995"/>
            <a:ext cx="367233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100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86" name="Text 79"/>
          <p:cNvSpPr/>
          <p:nvPr/>
        </p:nvSpPr>
        <p:spPr>
          <a:xfrm>
            <a:off x="4700588" y="4325541"/>
            <a:ext cx="873637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  <a:latin typeface="Indosat Bold Bold" pitchFamily="2" charset="77"/>
              </a:rPr>
              <a:t>siem_sync_interval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87" name="Text 80"/>
          <p:cNvSpPr/>
          <p:nvPr/>
        </p:nvSpPr>
        <p:spPr>
          <a:xfrm>
            <a:off x="4700588" y="4482703"/>
            <a:ext cx="1219886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74" dirty="0">
                <a:solidFill>
                  <a:srgbClr val="555555"/>
                </a:solidFill>
                <a:latin typeface="Indosat Bold Bold" pitchFamily="2" charset="77"/>
              </a:rPr>
              <a:t>Frequency of SIEM log pulls.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88" name="Text 81"/>
          <p:cNvSpPr/>
          <p:nvPr/>
        </p:nvSpPr>
        <p:spPr>
          <a:xfrm>
            <a:off x="6593681" y="4293394"/>
            <a:ext cx="757238" cy="178639"/>
          </a:xfrm>
          <a:prstGeom prst="rect">
            <a:avLst/>
          </a:prstGeom>
          <a:noFill/>
          <a:ln/>
        </p:spPr>
        <p:txBody>
          <a:bodyPr wrap="square" lIns="0" tIns="34036" rIns="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Indosat Bold Bold" pitchFamily="2" charset="77"/>
              </a:rPr>
              <a:t>Seconds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89" name="Shape 82"/>
          <p:cNvSpPr/>
          <p:nvPr/>
        </p:nvSpPr>
        <p:spPr>
          <a:xfrm>
            <a:off x="7350919" y="4313039"/>
            <a:ext cx="261417" cy="17323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0" name="Text 83"/>
          <p:cNvSpPr/>
          <p:nvPr/>
        </p:nvSpPr>
        <p:spPr>
          <a:xfrm>
            <a:off x="7350919" y="4313039"/>
            <a:ext cx="367233" cy="16555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Indosat Bold Bold" pitchFamily="2" charset="77"/>
              </a:rPr>
              <a:t>300</a:t>
            </a:r>
            <a:endParaRPr lang="en-US" sz="621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30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754746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Day-to-Day Operations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409246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Startup, Monitoring, and Maintenance Procedures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85900"/>
            <a:ext cx="2524116" cy="35242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485900"/>
            <a:ext cx="2524116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88472" y="1485900"/>
            <a:ext cx="7144" cy="3524269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5003025"/>
            <a:ext cx="2524116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1485900"/>
            <a:ext cx="7144" cy="3524269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85813" y="1700213"/>
            <a:ext cx="285750" cy="285750"/>
          </a:xfrm>
          <a:prstGeom prst="ellipse">
            <a:avLst/>
          </a:prstGeom>
          <a:solidFill>
            <a:srgbClr val="0052CC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1757363"/>
            <a:ext cx="171450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8719" y="1745754"/>
            <a:ext cx="995465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System Startup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85813" y="2278856"/>
            <a:ext cx="1011495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Initialize Containers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00113" y="2491383"/>
            <a:ext cx="19716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Launch the full stack using Docker Compose orchestration.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00113" y="2828534"/>
            <a:ext cx="1072093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00113" y="2828534"/>
            <a:ext cx="1185471" cy="2342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00FF00"/>
                </a:solidFill>
                <a:latin typeface="Indosat Bold Bold" pitchFamily="2" charset="77"/>
              </a:rPr>
              <a:t>docker-compose up -d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85813" y="3201795"/>
            <a:ext cx="107080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Verify Service Health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00113" y="3414322"/>
            <a:ext cx="19716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Check status of API, Database, and Worker nodes.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900113" y="3751473"/>
            <a:ext cx="1214047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900113" y="3751473"/>
            <a:ext cx="1387856" cy="2342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00FF00"/>
                </a:solidFill>
                <a:latin typeface="Indosat Bold Bold" pitchFamily="2" charset="77"/>
              </a:rPr>
              <a:t>curl localhost:8000/health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85813" y="4124734"/>
            <a:ext cx="102271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Check Connectivity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00113" y="4337261"/>
            <a:ext cx="19716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Ensure SIEM/EDR connectors are active and receiving data.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300413" y="1485900"/>
            <a:ext cx="2528888" cy="3488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300413" y="1485900"/>
            <a:ext cx="2528888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822156" y="1485900"/>
            <a:ext cx="7144" cy="34885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3300413" y="4967306"/>
            <a:ext cx="2528888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300413" y="1485900"/>
            <a:ext cx="7144" cy="34885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3519497" y="1700213"/>
            <a:ext cx="285750" cy="285750"/>
          </a:xfrm>
          <a:prstGeom prst="ellipse">
            <a:avLst/>
          </a:prstGeom>
          <a:solidFill>
            <a:srgbClr val="0052CC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47" y="1757363"/>
            <a:ext cx="171450" cy="1714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912403" y="1745754"/>
            <a:ext cx="1049967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Daily Monitoring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3633797" y="2278856"/>
            <a:ext cx="97462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Dashboard Review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5313192" y="2293144"/>
            <a:ext cx="297052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5313192" y="2293144"/>
            <a:ext cx="266611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Daily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633797" y="2491383"/>
            <a:ext cx="197644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Review Grafana dashboards for prediction latency and error rates.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3633797" y="2914259"/>
            <a:ext cx="82554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Resource Usage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5151034" y="2928547"/>
            <a:ext cx="459209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151034" y="2928547"/>
            <a:ext cx="420500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Real-time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3633797" y="3126786"/>
            <a:ext cx="197644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Monitor CPU/GPU utilization and memory consumption. Alert if &gt; 85%.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3633797" y="3549662"/>
            <a:ext cx="64921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Log Analysis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5313192" y="3563950"/>
            <a:ext cx="297052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5313192" y="3563950"/>
            <a:ext cx="266611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Daily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3633797" y="3762189"/>
            <a:ext cx="197644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Scan system logs for warnings or unhandled exceptions.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6038869" y="1485900"/>
            <a:ext cx="2533659" cy="3488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6038869" y="1485900"/>
            <a:ext cx="2533659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7" name="Shape 42"/>
          <p:cNvSpPr/>
          <p:nvPr/>
        </p:nvSpPr>
        <p:spPr>
          <a:xfrm>
            <a:off x="8565384" y="1485900"/>
            <a:ext cx="7144" cy="34885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6038869" y="4967306"/>
            <a:ext cx="2533659" cy="7144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6038869" y="1485900"/>
            <a:ext cx="7144" cy="348855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0" name="Shape 45"/>
          <p:cNvSpPr/>
          <p:nvPr/>
        </p:nvSpPr>
        <p:spPr>
          <a:xfrm>
            <a:off x="6262669" y="1700213"/>
            <a:ext cx="285750" cy="285750"/>
          </a:xfrm>
          <a:prstGeom prst="ellipse">
            <a:avLst/>
          </a:prstGeom>
          <a:solidFill>
            <a:srgbClr val="0052CC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819" y="1757363"/>
            <a:ext cx="171450" cy="17145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655575" y="1745754"/>
            <a:ext cx="852798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Maintenance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6376969" y="2278856"/>
            <a:ext cx="91691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Database Backup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8061108" y="2293144"/>
            <a:ext cx="297052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5" name="Text 49"/>
          <p:cNvSpPr/>
          <p:nvPr/>
        </p:nvSpPr>
        <p:spPr>
          <a:xfrm>
            <a:off x="8061108" y="2293144"/>
            <a:ext cx="266611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Daily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56" name="Text 50"/>
          <p:cNvSpPr/>
          <p:nvPr/>
        </p:nvSpPr>
        <p:spPr>
          <a:xfrm>
            <a:off x="6376969" y="2491383"/>
            <a:ext cx="19811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Automated dump of PostgreSQL telemetry and configuration data.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57" name="Shape 51"/>
          <p:cNvSpPr/>
          <p:nvPr/>
        </p:nvSpPr>
        <p:spPr>
          <a:xfrm>
            <a:off x="6376969" y="2828534"/>
            <a:ext cx="1749409" cy="2303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6376969" y="2828534"/>
            <a:ext cx="1943606" cy="2342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00FF00"/>
                </a:solidFill>
                <a:latin typeface="Indosat Bold Bold" pitchFamily="2" charset="77"/>
              </a:rPr>
              <a:t>pg_dump -U user dbname &gt; backup.sql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6376969" y="3201795"/>
            <a:ext cx="64440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Log Rotation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7993103" y="3216083"/>
            <a:ext cx="365057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7993103" y="3216083"/>
            <a:ext cx="353174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Weekly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6376969" y="3414322"/>
            <a:ext cx="19811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Archive and compress old logs to prevent disk saturation.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63" name="Text 57"/>
          <p:cNvSpPr/>
          <p:nvPr/>
        </p:nvSpPr>
        <p:spPr>
          <a:xfrm>
            <a:off x="6376969" y="3837198"/>
            <a:ext cx="864019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Indosat Bold Bold" pitchFamily="2" charset="77"/>
              </a:rPr>
              <a:t>Model Retraining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64" name="Shape 58"/>
          <p:cNvSpPr/>
          <p:nvPr/>
        </p:nvSpPr>
        <p:spPr>
          <a:xfrm>
            <a:off x="7911312" y="3851486"/>
            <a:ext cx="446847" cy="126802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7911312" y="3851486"/>
            <a:ext cx="364395" cy="11721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666666"/>
                </a:solidFill>
                <a:latin typeface="Indosat Bold Bold" pitchFamily="2" charset="77"/>
              </a:rPr>
              <a:t>Monthly</a:t>
            </a:r>
            <a:endParaRPr lang="en-US" sz="485" dirty="0">
              <a:latin typeface="Indosat Bold Bold" pitchFamily="2" charset="77"/>
            </a:endParaRPr>
          </a:p>
        </p:txBody>
      </p:sp>
      <p:sp>
        <p:nvSpPr>
          <p:cNvPr id="66" name="Text 60"/>
          <p:cNvSpPr/>
          <p:nvPr/>
        </p:nvSpPr>
        <p:spPr>
          <a:xfrm>
            <a:off x="6376969" y="4049725"/>
            <a:ext cx="198119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Indosat Bold Bold" pitchFamily="2" charset="77"/>
              </a:rPr>
              <a:t>Trigger retraining pipeline if data drift &gt; 15% is detected.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251788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Proven Performance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217227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Validation Results &amp; Production Metrics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285875"/>
            <a:ext cx="1893094" cy="10679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285875"/>
            <a:ext cx="1893094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10403" y="1428750"/>
            <a:ext cx="815287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  <a:latin typeface="Indosat Bold Bold" pitchFamily="2" charset="77"/>
              </a:rPr>
              <a:t>94.5%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17080" y="1873448"/>
            <a:ext cx="401905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  <a:latin typeface="Indosat Bold Bold" pitchFamily="2" charset="77"/>
              </a:rPr>
              <a:t>Precision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8173" y="2066330"/>
            <a:ext cx="719748" cy="96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dosat Bold Bold" pitchFamily="2" charset="77"/>
              </a:rPr>
              <a:t>True Positive Rate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07469" y="1285875"/>
            <a:ext cx="1893094" cy="10679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607469" y="1285875"/>
            <a:ext cx="1893094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79233" y="1428750"/>
            <a:ext cx="749564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  <a:latin typeface="Indosat Bold Bold" pitchFamily="2" charset="77"/>
              </a:rPr>
              <a:t>91.2%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16560" y="1873448"/>
            <a:ext cx="274882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  <a:latin typeface="Indosat Bold Bold" pitchFamily="2" charset="77"/>
              </a:rPr>
              <a:t>Recall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113176" y="2066330"/>
            <a:ext cx="881652" cy="96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dosat Bold Bold" pitchFamily="2" charset="77"/>
              </a:rPr>
              <a:t>Threat Detection Rate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43438" y="1285875"/>
            <a:ext cx="1893094" cy="10679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43438" y="1285875"/>
            <a:ext cx="1893094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140726" y="1428750"/>
            <a:ext cx="898516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  <a:latin typeface="Indosat Bold Bold" pitchFamily="2" charset="77"/>
              </a:rPr>
              <a:t>&lt; 0.5%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264401" y="1873448"/>
            <a:ext cx="651139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  <a:latin typeface="Indosat Bold Bold" pitchFamily="2" charset="77"/>
              </a:rPr>
              <a:t>False Positives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262170" y="2066330"/>
            <a:ext cx="655629" cy="96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dosat Bold Bold" pitchFamily="2" charset="77"/>
              </a:rPr>
              <a:t>Noise Reduction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679406" y="1285875"/>
            <a:ext cx="1893094" cy="10679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679406" y="1285875"/>
            <a:ext cx="1893094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9972" y="1428750"/>
            <a:ext cx="611962" cy="3372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  <a:latin typeface="Indosat Bold Bold" pitchFamily="2" charset="77"/>
              </a:rPr>
              <a:t>45m</a:t>
            </a:r>
            <a:endParaRPr lang="en-US" sz="2121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94543" y="1873448"/>
            <a:ext cx="462819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  <a:latin typeface="Indosat Bold Bold" pitchFamily="2" charset="77"/>
              </a:rPr>
              <a:t>Lead Time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118602" y="2066330"/>
            <a:ext cx="1014701" cy="96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dosat Bold Bold" pitchFamily="2" charset="77"/>
              </a:rPr>
              <a:t>Avg. Pre-Attack Warning</a:t>
            </a:r>
            <a:endParaRPr lang="en-US" sz="621" dirty="0">
              <a:latin typeface="Indosat Bold Bold" pitchFamily="2" charset="7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1500" y="2411016"/>
            <a:ext cx="4749171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553891"/>
            <a:ext cx="4449105" cy="198596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600700" y="2666405"/>
            <a:ext cx="2971800" cy="2522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  <a:latin typeface="Indosat Bold Bold" pitchFamily="2" charset="77"/>
              </a:rPr>
              <a:t>Business Impact</a:t>
            </a:r>
            <a:endParaRPr lang="en-US" sz="987" dirty="0">
              <a:latin typeface="Indosat Bold Bold" pitchFamily="2" charset="77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3082528"/>
            <a:ext cx="128588" cy="128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815013" y="3061097"/>
            <a:ext cx="1158972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Accelerated Response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5815013" y="3261122"/>
            <a:ext cx="2489464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Drastic reduction in Mean Time to Detect (MTTD) and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815013" y="3416498"/>
            <a:ext cx="795089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Respond (MTTR).</a:t>
            </a:r>
            <a:endParaRPr lang="en-US" sz="727" dirty="0">
              <a:latin typeface="Indosat Bold Bold" pitchFamily="2" charset="77"/>
            </a:endParaRPr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3662958"/>
            <a:ext cx="160734" cy="128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847159" y="3641527"/>
            <a:ext cx="931345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Analyst Efficiency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5847159" y="3841552"/>
            <a:ext cx="2556790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Automated correlation reduces alert fatigue, allowing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5847159" y="3996928"/>
            <a:ext cx="1141338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focus on critical threats.</a:t>
            </a:r>
            <a:endParaRPr lang="en-US" sz="727" dirty="0">
              <a:latin typeface="Indosat Bold Bold" pitchFamily="2" charset="77"/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243388"/>
            <a:ext cx="144661" cy="128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831086" y="4221956"/>
            <a:ext cx="820738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Cost Avoidance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831086" y="4421981"/>
            <a:ext cx="2505494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Pre-empting breaches prevents data exfiltration and</a:t>
            </a:r>
            <a:endParaRPr lang="en-US" sz="727" dirty="0">
              <a:latin typeface="Indosat Bold Bold" pitchFamily="2" charset="77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831086" y="4577358"/>
            <a:ext cx="775853" cy="129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Indosat Bold Bold" pitchFamily="2" charset="77"/>
              </a:rPr>
              <a:t>regulatory fines.</a:t>
            </a:r>
            <a:endParaRPr lang="en-US" sz="72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463128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Strategic Advantages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2433358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From Prediction to Prevention</a:t>
            </a:r>
            <a:endParaRPr lang="en-US" sz="1269" dirty="0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6403"/>
            <a:ext cx="257175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1686453"/>
            <a:ext cx="2476509" cy="27808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dosat Bold Bold" pitchFamily="2" charset="77"/>
              </a:rPr>
              <a:t>Proactive Defense</a:t>
            </a:r>
            <a:endParaRPr lang="en-US" sz="1193" dirty="0">
              <a:latin typeface="Indosat Bold Bold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571500" y="2113292"/>
            <a:ext cx="247650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Shift security posture from reactive incident response to predictive threat prevention. Identify and neutralize attack vectors before execution.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1500" y="2951901"/>
            <a:ext cx="424796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dosat Bold Bold" pitchFamily="2" charset="77"/>
              </a:rPr>
              <a:t>92%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71500" y="3264440"/>
            <a:ext cx="902491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Prediction Accuracy</a:t>
            </a:r>
            <a:endParaRPr lang="en-US" sz="683" dirty="0">
              <a:latin typeface="Indosat Bold Bold" pitchFamily="2" charset="7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9" y="1286403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3759" y="1686453"/>
            <a:ext cx="2476509" cy="27808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dosat Bold Bold" pitchFamily="2" charset="77"/>
              </a:rPr>
              <a:t>Unified Visibility</a:t>
            </a:r>
            <a:endParaRPr lang="en-US" sz="1193" dirty="0">
              <a:latin typeface="Indosat Bold Bold" pitchFamily="2" charset="7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333759" y="2113292"/>
            <a:ext cx="247650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Eliminate data silos by aggregating telemetry from Cloud, On-Premise, SIEM, and EDR into a single, normalized context for decision making.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333759" y="2951901"/>
            <a:ext cx="532197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dosat Bold Bold" pitchFamily="2" charset="77"/>
              </a:rPr>
              <a:t>100%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333759" y="3264440"/>
            <a:ext cx="713337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Asset Coverage</a:t>
            </a:r>
            <a:endParaRPr lang="en-US" sz="683" dirty="0">
              <a:latin typeface="Indosat Bold Bold" pitchFamily="2" charset="77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19" y="1286403"/>
            <a:ext cx="192881" cy="2571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6019" y="1686453"/>
            <a:ext cx="2476509" cy="27808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dosat Bold Bold" pitchFamily="2" charset="77"/>
              </a:rPr>
              <a:t>Automated Response</a:t>
            </a:r>
            <a:endParaRPr lang="en-US" sz="1193" dirty="0">
              <a:latin typeface="Indosat Bold Bold" pitchFamily="2" charset="77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096019" y="2113292"/>
            <a:ext cx="247650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Indosat Bold Bold" pitchFamily="2" charset="77"/>
              </a:rPr>
              <a:t>Reduce Mean Time To Respond (MTTR) with machine-speed automated blocking, dynamic firewall rules, and self-healing configurations.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096019" y="2769038"/>
            <a:ext cx="710131" cy="263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Indosat Bold Bold" pitchFamily="2" charset="77"/>
              </a:rPr>
              <a:t>&lt; 10ms</a:t>
            </a:r>
            <a:endParaRPr lang="en-US" sz="1602" dirty="0">
              <a:latin typeface="Indosat Bold Bold" pitchFamily="2" charset="7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096019" y="3081577"/>
            <a:ext cx="820738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  <a:latin typeface="Indosat Bold Bold" pitchFamily="2" charset="77"/>
              </a:rPr>
              <a:t>Response Latency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71500" y="3685921"/>
            <a:ext cx="8001000" cy="14155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71500" y="3685921"/>
            <a:ext cx="8001000" cy="7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71500" y="3900234"/>
            <a:ext cx="1148969" cy="1084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  <a:latin typeface="Indosat Bold Bold" pitchFamily="2" charset="77"/>
              </a:rPr>
              <a:t>Implementation Pathway</a:t>
            </a:r>
            <a:endParaRPr lang="en-US" sz="683" dirty="0">
              <a:latin typeface="Indosat Bold Bold" pitchFamily="2" charset="7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928688" y="4350290"/>
            <a:ext cx="72866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1107281" y="4178840"/>
            <a:ext cx="357188" cy="357188"/>
          </a:xfrm>
          <a:prstGeom prst="ellipse">
            <a:avLst/>
          </a:prstGeom>
          <a:solidFill>
            <a:srgbClr val="1A1A1A"/>
          </a:solidFill>
          <a:ln w="27432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107281" y="4274270"/>
            <a:ext cx="357188" cy="16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dosat Bold Bold" pitchFamily="2" charset="77"/>
              </a:rPr>
              <a:t>1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969281" y="4643184"/>
            <a:ext cx="63318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Assessment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71500" y="4834279"/>
            <a:ext cx="1428750" cy="24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Audit infrastructure &amp; define critical assets.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3298013" y="4178840"/>
            <a:ext cx="357188" cy="357188"/>
          </a:xfrm>
          <a:prstGeom prst="ellipse">
            <a:avLst/>
          </a:prstGeom>
          <a:solidFill>
            <a:srgbClr val="1A1A1A"/>
          </a:solidFill>
          <a:ln w="27432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3298013" y="4274270"/>
            <a:ext cx="357188" cy="16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dosat Bold Bold" pitchFamily="2" charset="77"/>
              </a:rPr>
              <a:t>2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157609" y="4643184"/>
            <a:ext cx="637995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Deployment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2762231" y="4834279"/>
            <a:ext cx="1428750" cy="24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Install collectors &amp; core engine (Docker/K8s).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5488744" y="4178840"/>
            <a:ext cx="357188" cy="357188"/>
          </a:xfrm>
          <a:prstGeom prst="ellipse">
            <a:avLst/>
          </a:prstGeom>
          <a:solidFill>
            <a:srgbClr val="1A1A1A"/>
          </a:solidFill>
          <a:ln w="27432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5488744" y="4274270"/>
            <a:ext cx="357188" cy="16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dosat Bold Bold" pitchFamily="2" charset="77"/>
              </a:rPr>
              <a:t>3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5443705" y="4643184"/>
            <a:ext cx="447237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Learning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4952963" y="4834279"/>
            <a:ext cx="1428750" cy="24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30-day baseline period for anomaly tuning.</a:t>
            </a:r>
            <a:endParaRPr lang="en-US" sz="674" dirty="0">
              <a:latin typeface="Indosat Bold Bold" pitchFamily="2" charset="77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7679475" y="4178840"/>
            <a:ext cx="357188" cy="357188"/>
          </a:xfrm>
          <a:prstGeom prst="ellipse">
            <a:avLst/>
          </a:prstGeom>
          <a:solidFill>
            <a:srgbClr val="1A1A1A"/>
          </a:solidFill>
          <a:ln w="27432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7679475" y="4274270"/>
            <a:ext cx="357188" cy="166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dosat Bold Bold" pitchFamily="2" charset="77"/>
              </a:rPr>
              <a:t>4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7525432" y="4643184"/>
            <a:ext cx="665246" cy="13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  <a:latin typeface="Indosat Bold Bold" pitchFamily="2" charset="77"/>
              </a:rPr>
              <a:t>Enforcement</a:t>
            </a:r>
            <a:endParaRPr lang="en-US" sz="784" dirty="0">
              <a:latin typeface="Indosat Bold Bold" pitchFamily="2" charset="77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7143694" y="4834279"/>
            <a:ext cx="1428750" cy="24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Indosat Bold Bold" pitchFamily="2" charset="77"/>
              </a:rPr>
              <a:t>Activate automated blocking &amp; prevention.</a:t>
            </a:r>
            <a:endParaRPr lang="en-US" sz="67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49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715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28625"/>
            <a:ext cx="57150" cy="77152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813" y="428625"/>
            <a:ext cx="3658437" cy="3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  <a:latin typeface="Indosat Bold Bold" pitchFamily="2" charset="77"/>
              </a:rPr>
              <a:t>Questions &amp; Discussion</a:t>
            </a:r>
            <a:endParaRPr lang="en-US" sz="243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813" y="966192"/>
            <a:ext cx="3374322" cy="194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dosat Bold Bold" pitchFamily="2" charset="77"/>
              </a:rPr>
              <a:t>Next Steps and Implementation Planning</a:t>
            </a:r>
            <a:endParaRPr lang="en-US" sz="1269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628775"/>
            <a:ext cx="2747612" cy="1295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100"/>
              </a:lnSpc>
              <a:buNone/>
            </a:pPr>
            <a:r>
              <a:rPr lang="en-US" sz="9327" b="1" kern="0" spc="-4" dirty="0">
                <a:solidFill>
                  <a:srgbClr val="1A1A1A"/>
                </a:solidFill>
                <a:latin typeface="Indosat Bold Bold" pitchFamily="2" charset="77"/>
              </a:rPr>
              <a:t>Q&amp;A</a:t>
            </a:r>
            <a:endParaRPr lang="en-US" sz="9327" dirty="0">
              <a:latin typeface="Indosat Bold Bold" pitchFamily="2" charset="7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0938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7238" y="3200400"/>
            <a:ext cx="1691169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dosat Bold Bold" pitchFamily="2" charset="77"/>
              </a:rPr>
              <a:t>security-team@company.com</a:t>
            </a:r>
            <a:endParaRPr lang="en-US" sz="834" dirty="0">
              <a:latin typeface="Indosat Bold Bold" pitchFamily="2" charset="77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47752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7238" y="3427214"/>
            <a:ext cx="1551707" cy="132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dosat Bold Bold" pitchFamily="2" charset="77"/>
              </a:rPr>
              <a:t>internal.wiki/cyber-defense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295822" y="1628775"/>
            <a:ext cx="4276678" cy="33789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295822" y="1628775"/>
            <a:ext cx="4276678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581572" y="1914525"/>
            <a:ext cx="3705178" cy="295081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052CC"/>
                </a:solidFill>
                <a:latin typeface="Indosat Bold Bold" pitchFamily="2" charset="77"/>
              </a:rPr>
              <a:t>Suggested Discussion Topics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581572" y="2452092"/>
            <a:ext cx="115416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  <a:latin typeface="Indosat Bold Bold" pitchFamily="2" charset="77"/>
              </a:rPr>
              <a:t>01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835844" y="2437805"/>
            <a:ext cx="1635063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Deployment Architecture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835844" y="2668191"/>
            <a:ext cx="3450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dosat Bold Bold" pitchFamily="2" charset="77"/>
              </a:rPr>
              <a:t>Evaluating the trade-offs between On-Premise (Air-gapped) vs. Cloud-Native deployment for your specific environment.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581572" y="3203972"/>
            <a:ext cx="141064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  <a:latin typeface="Indosat Bold Bold" pitchFamily="2" charset="77"/>
              </a:rPr>
              <a:t>02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835844" y="3189684"/>
            <a:ext cx="1399422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Integration Readiness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835844" y="3420070"/>
            <a:ext cx="3450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dosat Bold Bold" pitchFamily="2" charset="77"/>
              </a:rPr>
              <a:t>Assessing current SIEM/EDR coverage and API availability for seamless data ingestion.</a:t>
            </a:r>
            <a:endParaRPr lang="en-US" sz="834" dirty="0">
              <a:latin typeface="Indosat Bold Bold" pitchFamily="2" charset="7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581572" y="3955852"/>
            <a:ext cx="139462" cy="143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CCCCC"/>
                </a:solidFill>
                <a:latin typeface="Indosat Bold Bold" pitchFamily="2" charset="77"/>
              </a:rPr>
              <a:t>03</a:t>
            </a:r>
            <a:endParaRPr lang="en-US" sz="885" dirty="0">
              <a:latin typeface="Indosat Bold Bold" pitchFamily="2" charset="7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835844" y="3941564"/>
            <a:ext cx="708527" cy="166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dosat Bold Bold" pitchFamily="2" charset="77"/>
              </a:rPr>
              <a:t>Pilot Scope</a:t>
            </a:r>
            <a:endParaRPr lang="en-US" sz="987" dirty="0">
              <a:latin typeface="Indosat Bold Bold" pitchFamily="2" charset="7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835844" y="4171950"/>
            <a:ext cx="3450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dosat Bold Bold" pitchFamily="2" charset="77"/>
              </a:rPr>
              <a:t>Defining success criteria, timeline (e.g., 30-day baseline), and target assets for the initial Proof of Concept.</a:t>
            </a:r>
            <a:endParaRPr lang="en-US" sz="83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2671</Words>
  <Application>Microsoft Macintosh PowerPoint</Application>
  <PresentationFormat>On-screen Show (16:9)</PresentationFormat>
  <Paragraphs>616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Indosat Bold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Raditio Ghifiardi</cp:lastModifiedBy>
  <cp:revision>7</cp:revision>
  <dcterms:created xsi:type="dcterms:W3CDTF">2025-12-13T12:10:13Z</dcterms:created>
  <dcterms:modified xsi:type="dcterms:W3CDTF">2025-12-14T02:45:45Z</dcterms:modified>
</cp:coreProperties>
</file>